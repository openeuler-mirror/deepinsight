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2"/>
    <p:sldMasterId id="2147483655" r:id="rId3"/>
    <p:sldMasterId id="2147483657" r:id="rId4"/>
  </p:sldMasterIdLst>
  <p:notesMasterIdLst>
    <p:notesMasterId r:id="rId22"/>
  </p:notesMasterIdLst>
  <p:handoutMasterIdLst>
    <p:handoutMasterId r:id="rId23"/>
  </p:handoutMasterIdLst>
  <p:sldIdLst>
    <p:sldId id="283" r:id="rId5"/>
    <p:sldId id="282" r:id="rId6"/>
    <p:sldId id="281" r:id="rId7"/>
    <p:sldId id="28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291" r:id="rId16"/>
    <p:sldId id="292" r:id="rId17"/>
    <p:sldId id="293" r:id="rId18"/>
    <p:sldId id="294" r:id="rId19"/>
    <p:sldId id="295" r:id="rId20"/>
    <p:sldId id="280" r:id="rId21"/>
  </p:sldIdLst>
  <p:sldSz cx="1219676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3682" userDrawn="1">
          <p15:clr>
            <a:srgbClr val="A4A3A4"/>
          </p15:clr>
        </p15:guide>
        <p15:guide id="6" orient="horz" pos="2253" userDrawn="1">
          <p15:clr>
            <a:srgbClr val="A4A3A4"/>
          </p15:clr>
        </p15:guide>
        <p15:guide id="7" pos="356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2126"/>
    <a:srgbClr val="78000F"/>
    <a:srgbClr val="2B632C"/>
    <a:srgbClr val="B0B0B0"/>
    <a:srgbClr val="FFFFFF"/>
    <a:srgbClr val="C7000B"/>
    <a:srgbClr val="151515"/>
    <a:srgbClr val="575756"/>
    <a:srgbClr val="DD4654"/>
    <a:srgbClr val="F3D2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107" autoAdjust="0"/>
    <p:restoredTop sz="96291"/>
  </p:normalViewPr>
  <p:slideViewPr>
    <p:cSldViewPr snapToGrid="0" snapToObjects="1" showGuides="1">
      <p:cViewPr varScale="1">
        <p:scale>
          <a:sx n="83" d="100"/>
          <a:sy n="83" d="100"/>
        </p:scale>
        <p:origin x="60" y="678"/>
      </p:cViewPr>
      <p:guideLst>
        <p:guide pos="3682"/>
        <p:guide orient="horz" pos="2253"/>
        <p:guide pos="35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7030" b="11599"/>
          <a:stretch>
            <a:fillRect/>
          </a:stretch>
        </p:blipFill>
        <p:spPr>
          <a:xfrm>
            <a:off x="0" y="0"/>
            <a:ext cx="12196763" cy="5602265"/>
          </a:xfrm>
          <a:prstGeom prst="rect">
            <a:avLst/>
          </a:prstGeom>
        </p:spPr>
      </p:pic>
      <p:sp>
        <p:nvSpPr>
          <p:cNvPr id="13" name="L 形 12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altLang="zh-CN" sz="1000" dirty="0"/>
          </a:p>
        </p:txBody>
      </p:sp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6168"/>
            <a:ext cx="2258389" cy="48253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5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234/90/79</a:t>
                </a: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120/0/15</a:t>
                </a: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248/181/60</a:t>
                </a: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235/92/1</a:t>
                </a: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137/137/137</a:t>
                </a: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35/24/21</a:t>
                </a: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221/221/221</a:t>
                </a: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233/140/128</a:t>
                </a: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159/0/1</a:t>
                </a: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245/220/87</a:t>
                </a: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240/133/0</a:t>
                </a: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181/181/181</a:t>
                </a: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89/87/87</a:t>
                </a: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255/255/255</a:t>
                </a: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Copyright©2021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9" name="图片 9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dirty="0" err="1"/>
              <a:t>conference_name</a:t>
            </a:r>
            <a:endParaRPr lang="zh-CN" altLang="en-US" b="1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898996" y="4468454"/>
            <a:ext cx="6535842" cy="643926"/>
          </a:xfrm>
        </p:spPr>
        <p:txBody>
          <a:bodyPr/>
          <a:lstStyle/>
          <a:p>
            <a:pPr fontAlgn="auto">
              <a:lnSpc>
                <a:spcPct val="150000"/>
              </a:lnSpc>
            </a:pPr>
            <a:r>
              <a:rPr lang="zh-CN" altLang="en-US" sz="2000" b="1" dirty="0">
                <a:latin typeface="+mj-ea"/>
                <a:ea typeface="+mj-ea"/>
              </a:rPr>
              <a:t>作者：</a:t>
            </a:r>
            <a:r>
              <a:rPr lang="en-US" altLang="zh-CN" sz="2000" b="1" dirty="0" err="1">
                <a:solidFill>
                  <a:srgbClr val="A72126"/>
                </a:solidFill>
                <a:latin typeface="+mj-ea"/>
                <a:ea typeface="+mj-ea"/>
              </a:rPr>
              <a:t>Deepinsight</a:t>
            </a:r>
            <a:r>
              <a:rPr lang="zh-CN" altLang="en-US" sz="2000" b="1" dirty="0">
                <a:solidFill>
                  <a:srgbClr val="A72126"/>
                </a:solidFill>
                <a:latin typeface="+mj-ea"/>
                <a:ea typeface="+mj-ea"/>
              </a:rPr>
              <a:t>顶会助手</a:t>
            </a:r>
            <a:endParaRPr lang="en-US" altLang="zh-CN" sz="2000" b="1" dirty="0">
              <a:solidFill>
                <a:srgbClr val="A72126"/>
              </a:solidFill>
              <a:latin typeface="+mj-ea"/>
              <a:ea typeface="+mj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000" b="1" dirty="0">
                <a:latin typeface="+mj-ea"/>
                <a:ea typeface="+mj-ea"/>
              </a:rPr>
              <a:t>日期：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2" name="标题 2"/>
          <p:cNvSpPr txBox="1"/>
          <p:nvPr/>
        </p:nvSpPr>
        <p:spPr>
          <a:xfrm>
            <a:off x="887012" y="1597347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 defTabSz="914400" rtl="0" eaLnBrk="1" latinLnBrk="0" hangingPunct="1">
              <a:lnSpc>
                <a:spcPts val="3440"/>
              </a:lnSpc>
              <a:spcBef>
                <a:spcPct val="0"/>
              </a:spcBef>
              <a:buNone/>
              <a:defRPr sz="320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b="1" dirty="0">
                <a:solidFill>
                  <a:srgbClr val="A72126"/>
                </a:solidFill>
              </a:rPr>
              <a:t>洞察报告</a:t>
            </a:r>
          </a:p>
        </p:txBody>
      </p:sp>
      <p:sp>
        <p:nvSpPr>
          <p:cNvPr id="5" name="Text Placeholder 7"/>
          <p:cNvSpPr txBox="1"/>
          <p:nvPr/>
        </p:nvSpPr>
        <p:spPr>
          <a:xfrm>
            <a:off x="1667173" y="5048862"/>
            <a:ext cx="2523077" cy="3219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7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7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7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7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latin typeface="+mj-ea"/>
                <a:ea typeface="+mj-ea"/>
              </a:rPr>
              <a:t>date</a:t>
            </a:r>
            <a:endParaRPr lang="en-US" sz="2000" b="1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033620" y="1843088"/>
            <a:ext cx="10045712" cy="3013725"/>
          </a:xfrm>
        </p:spPr>
        <p:txBody>
          <a:bodyPr/>
          <a:lstStyle/>
          <a:p>
            <a:r>
              <a:rPr lang="en-US" b="1" dirty="0" err="1">
                <a:solidFill>
                  <a:schemeClr val="tx1"/>
                </a:solidFill>
              </a:rPr>
              <a:t>会议概览</a:t>
            </a:r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 err="1"/>
              <a:t>Keynote分析</a:t>
            </a:r>
            <a:endParaRPr lang="en-US" b="1" dirty="0"/>
          </a:p>
          <a:p>
            <a:r>
              <a:rPr lang="en-US" b="1" dirty="0" err="1">
                <a:solidFill>
                  <a:schemeClr val="tx1"/>
                </a:solidFill>
              </a:rPr>
              <a:t>会议主题分析</a:t>
            </a:r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 err="1"/>
              <a:t>优秀论文分析</a:t>
            </a:r>
            <a:endParaRPr lang="en-US" b="1" dirty="0"/>
          </a:p>
          <a:p>
            <a:r>
              <a:rPr lang="en-US" b="1" dirty="0" err="1">
                <a:solidFill>
                  <a:schemeClr val="tx1"/>
                </a:solidFill>
              </a:rPr>
              <a:t>总结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420130" y="295496"/>
            <a:ext cx="11467068" cy="528350"/>
          </a:xfrm>
        </p:spPr>
        <p:txBody>
          <a:bodyPr>
            <a:normAutofit/>
          </a:bodyPr>
          <a:lstStyle/>
          <a:p>
            <a:r>
              <a:rPr lang="en-US" sz="2400" b="1" dirty="0" err="1">
                <a:solidFill>
                  <a:srgbClr val="A72126"/>
                </a:solidFill>
              </a:rPr>
              <a:t>会议概览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xfrm>
            <a:off x="420130" y="781220"/>
            <a:ext cx="11467069" cy="2327127"/>
          </a:xfrm>
          <a:ln w="12700">
            <a:solidFill>
              <a:schemeClr val="tx2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ctr">
              <a:lnSpc>
                <a:spcPct val="120000"/>
              </a:lnSpc>
            </a:pPr>
            <a:r>
              <a:rPr lang="zh-CN" altLang="en-US" sz="1400" b="1" dirty="0" err="1">
                <a:solidFill>
                  <a:schemeClr val="tx1"/>
                </a:solidFill>
              </a:rPr>
              <a:t>基本信息</a:t>
            </a:r>
          </a:p>
        </p:txBody>
      </p:sp>
      <p:sp>
        <p:nvSpPr>
          <p:cNvPr id="6" name="矩形 5"/>
          <p:cNvSpPr/>
          <p:nvPr/>
        </p:nvSpPr>
        <p:spPr>
          <a:xfrm>
            <a:off x="507617" y="1182206"/>
            <a:ext cx="1127895" cy="2190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会议时间</a:t>
            </a: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9" name="矩形 8"/>
          <p:cNvSpPr/>
          <p:nvPr/>
        </p:nvSpPr>
        <p:spPr>
          <a:xfrm>
            <a:off x="1635510" y="1182206"/>
            <a:ext cx="3861777" cy="2190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conf_date</a:t>
            </a:r>
          </a:p>
        </p:txBody>
      </p:sp>
      <p:sp>
        <p:nvSpPr>
          <p:cNvPr id="12" name="矩形 11"/>
          <p:cNvSpPr/>
          <p:nvPr/>
        </p:nvSpPr>
        <p:spPr>
          <a:xfrm>
            <a:off x="507617" y="1544100"/>
            <a:ext cx="1127895" cy="2184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会议地点</a:t>
            </a: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13" name="矩形 12"/>
          <p:cNvSpPr/>
          <p:nvPr/>
        </p:nvSpPr>
        <p:spPr>
          <a:xfrm>
            <a:off x="1635509" y="1544100"/>
            <a:ext cx="3861777" cy="2184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conf_loc</a:t>
            </a:r>
          </a:p>
        </p:txBody>
      </p:sp>
      <p:sp>
        <p:nvSpPr>
          <p:cNvPr id="17" name="矩形 16"/>
          <p:cNvSpPr/>
          <p:nvPr/>
        </p:nvSpPr>
        <p:spPr>
          <a:xfrm>
            <a:off x="507617" y="1905415"/>
            <a:ext cx="1127895" cy="2184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会议级别</a:t>
            </a: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18" name="矩形 17"/>
          <p:cNvSpPr/>
          <p:nvPr/>
        </p:nvSpPr>
        <p:spPr>
          <a:xfrm>
            <a:off x="1635509" y="1905415"/>
            <a:ext cx="3861777" cy="2184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organizer_level</a:t>
            </a:r>
          </a:p>
        </p:txBody>
      </p:sp>
      <p:sp>
        <p:nvSpPr>
          <p:cNvPr id="19" name="矩形 18"/>
          <p:cNvSpPr/>
          <p:nvPr/>
        </p:nvSpPr>
        <p:spPr>
          <a:xfrm>
            <a:off x="507617" y="2266730"/>
            <a:ext cx="1127895" cy="2184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会议主题</a:t>
            </a: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20" name="矩形 19"/>
          <p:cNvSpPr/>
          <p:nvPr/>
        </p:nvSpPr>
        <p:spPr>
          <a:xfrm>
            <a:off x="1635509" y="2266730"/>
            <a:ext cx="3861777" cy="2184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conf_topics</a:t>
            </a:r>
          </a:p>
        </p:txBody>
      </p:sp>
      <p:sp>
        <p:nvSpPr>
          <p:cNvPr id="21" name="矩形 20"/>
          <p:cNvSpPr/>
          <p:nvPr/>
        </p:nvSpPr>
        <p:spPr>
          <a:xfrm>
            <a:off x="507617" y="2628045"/>
            <a:ext cx="1127895" cy="2184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投稿论文</a:t>
            </a: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22" name="矩形 21"/>
          <p:cNvSpPr/>
          <p:nvPr/>
        </p:nvSpPr>
        <p:spPr>
          <a:xfrm>
            <a:off x="1635509" y="2628045"/>
            <a:ext cx="3861777" cy="2184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submit_papers</a:t>
            </a:r>
          </a:p>
        </p:txBody>
      </p:sp>
      <p:sp>
        <p:nvSpPr>
          <p:cNvPr id="23" name="矩形 22"/>
          <p:cNvSpPr/>
          <p:nvPr/>
        </p:nvSpPr>
        <p:spPr>
          <a:xfrm>
            <a:off x="5845122" y="1182206"/>
            <a:ext cx="1127895" cy="2190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会议主席</a:t>
            </a: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24" name="矩形 23"/>
          <p:cNvSpPr/>
          <p:nvPr/>
        </p:nvSpPr>
        <p:spPr>
          <a:xfrm>
            <a:off x="6973015" y="1182206"/>
            <a:ext cx="4533185" cy="2190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conf_chair</a:t>
            </a:r>
          </a:p>
        </p:txBody>
      </p:sp>
      <p:sp>
        <p:nvSpPr>
          <p:cNvPr id="25" name="矩形 24"/>
          <p:cNvSpPr/>
          <p:nvPr/>
        </p:nvSpPr>
        <p:spPr>
          <a:xfrm>
            <a:off x="5845122" y="1630146"/>
            <a:ext cx="1127895" cy="2190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会议委员</a:t>
            </a: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26" name="矩形 25"/>
          <p:cNvSpPr/>
          <p:nvPr/>
        </p:nvSpPr>
        <p:spPr>
          <a:xfrm>
            <a:off x="6973015" y="1630145"/>
            <a:ext cx="4533185" cy="2190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conf_committee</a:t>
            </a:r>
          </a:p>
        </p:txBody>
      </p:sp>
      <p:sp>
        <p:nvSpPr>
          <p:cNvPr id="27" name="矩形 26"/>
          <p:cNvSpPr/>
          <p:nvPr/>
        </p:nvSpPr>
        <p:spPr>
          <a:xfrm>
            <a:off x="5845122" y="2116649"/>
            <a:ext cx="1127895" cy="2190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赞助商</a:t>
            </a: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28" name="矩形 27"/>
          <p:cNvSpPr/>
          <p:nvPr/>
        </p:nvSpPr>
        <p:spPr>
          <a:xfrm>
            <a:off x="6973015" y="2116648"/>
            <a:ext cx="4533185" cy="2190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conf_sponsor</a:t>
            </a:r>
          </a:p>
        </p:txBody>
      </p:sp>
      <p:sp>
        <p:nvSpPr>
          <p:cNvPr id="29" name="矩形 28"/>
          <p:cNvSpPr/>
          <p:nvPr/>
        </p:nvSpPr>
        <p:spPr>
          <a:xfrm>
            <a:off x="5845122" y="2627466"/>
            <a:ext cx="1127895" cy="2190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主要机构</a:t>
            </a: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30" name="矩形 29"/>
          <p:cNvSpPr/>
          <p:nvPr/>
        </p:nvSpPr>
        <p:spPr>
          <a:xfrm>
            <a:off x="6973015" y="2627466"/>
            <a:ext cx="4533185" cy="2190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conf_institution</a:t>
            </a:r>
          </a:p>
        </p:txBody>
      </p:sp>
      <p:sp>
        <p:nvSpPr>
          <p:cNvPr id="32" name="Content Placeholder 2"/>
          <p:cNvSpPr txBox="1"/>
          <p:nvPr/>
        </p:nvSpPr>
        <p:spPr>
          <a:xfrm>
            <a:off x="420130" y="3237829"/>
            <a:ext cx="11467068" cy="3071531"/>
          </a:xfrm>
          <a:prstGeom prst="rect">
            <a:avLst/>
          </a:prstGeom>
          <a:ln w="12700"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/>
          <a:lstStyle>
            <a:lvl1pPr marL="12065" indent="0" algn="l" defTabSz="1188085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16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52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25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sz="1400" b="1" dirty="0" err="1"/>
              <a:t>扩展信息</a:t>
            </a:r>
            <a:endParaRPr lang="en-US" sz="1400" b="1" dirty="0"/>
          </a:p>
        </p:txBody>
      </p:sp>
      <p:sp>
        <p:nvSpPr>
          <p:cNvPr id="34" name="矩形 33"/>
          <p:cNvSpPr/>
          <p:nvPr/>
        </p:nvSpPr>
        <p:spPr>
          <a:xfrm>
            <a:off x="507617" y="4442791"/>
            <a:ext cx="11269016" cy="18665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total_trend</a:t>
            </a:r>
          </a:p>
        </p:txBody>
      </p:sp>
      <p:sp>
        <p:nvSpPr>
          <p:cNvPr id="33" name="矩形 32"/>
          <p:cNvSpPr/>
          <p:nvPr/>
        </p:nvSpPr>
        <p:spPr>
          <a:xfrm>
            <a:off x="507617" y="3517768"/>
            <a:ext cx="11269016" cy="8355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conf_info</a:t>
            </a:r>
          </a:p>
        </p:txBody>
      </p:sp>
      <p:sp>
        <p:nvSpPr>
          <p:cNvPr id="14" name="矩形 13"/>
          <p:cNvSpPr/>
          <p:nvPr/>
        </p:nvSpPr>
        <p:spPr>
          <a:xfrm>
            <a:off x="6095365" y="25400"/>
            <a:ext cx="1198800" cy="216000"/>
          </a:xfrm>
          <a:prstGeom prst="rect">
            <a:avLst/>
          </a:prstGeom>
          <a:solidFill>
            <a:srgbClr val="A7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会议概览</a:t>
            </a:r>
          </a:p>
        </p:txBody>
      </p:sp>
      <p:sp>
        <p:nvSpPr>
          <p:cNvPr id="15" name="矩形 14"/>
          <p:cNvSpPr/>
          <p:nvPr/>
        </p:nvSpPr>
        <p:spPr>
          <a:xfrm>
            <a:off x="729297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Keynote</a:t>
            </a:r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</a:p>
        </p:txBody>
      </p:sp>
      <p:sp>
        <p:nvSpPr>
          <p:cNvPr id="16" name="矩形 15"/>
          <p:cNvSpPr/>
          <p:nvPr/>
        </p:nvSpPr>
        <p:spPr>
          <a:xfrm>
            <a:off x="848931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会议主题分析</a:t>
            </a:r>
          </a:p>
        </p:txBody>
      </p:sp>
      <p:sp>
        <p:nvSpPr>
          <p:cNvPr id="31" name="矩形 30"/>
          <p:cNvSpPr/>
          <p:nvPr/>
        </p:nvSpPr>
        <p:spPr>
          <a:xfrm>
            <a:off x="968184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优秀论文分析</a:t>
            </a:r>
          </a:p>
        </p:txBody>
      </p:sp>
      <p:sp>
        <p:nvSpPr>
          <p:cNvPr id="35" name="矩形 34"/>
          <p:cNvSpPr/>
          <p:nvPr/>
        </p:nvSpPr>
        <p:spPr>
          <a:xfrm>
            <a:off x="10881360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420130" y="295496"/>
            <a:ext cx="11467068" cy="528350"/>
          </a:xfrm>
        </p:spPr>
        <p:txBody>
          <a:bodyPr>
            <a:normAutofit/>
          </a:bodyPr>
          <a:lstStyle/>
          <a:p>
            <a:pPr algn="l">
              <a:buClrTx/>
              <a:buSzTx/>
            </a:pPr>
            <a:r>
              <a:rPr lang="en-US" sz="2400" b="1" dirty="0" err="1">
                <a:solidFill>
                  <a:srgbClr val="A72126"/>
                </a:solidFill>
              </a:rPr>
              <a:t>技术主题分析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Content Placeholder 2"/>
          <p:cNvSpPr txBox="1"/>
          <p:nvPr/>
        </p:nvSpPr>
        <p:spPr>
          <a:xfrm>
            <a:off x="5992668" y="975361"/>
            <a:ext cx="5724000" cy="4892400"/>
          </a:xfrm>
          <a:prstGeom prst="rect">
            <a:avLst/>
          </a:prstGeom>
          <a:ln w="12700"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/>
          <a:lstStyle>
            <a:lvl1pPr marL="12065" indent="0" algn="l" defTabSz="1188085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16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52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25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b="1" dirty="0"/>
          </a:p>
        </p:txBody>
      </p:sp>
      <p:sp>
        <p:nvSpPr>
          <p:cNvPr id="33" name="矩形 32"/>
          <p:cNvSpPr/>
          <p:nvPr/>
        </p:nvSpPr>
        <p:spPr>
          <a:xfrm>
            <a:off x="584893" y="1409516"/>
            <a:ext cx="5075498" cy="37062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altLang="zh-CN" sz="1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tech_field_png</a:t>
            </a:r>
            <a:endParaRPr lang="en-GB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098540" y="1050925"/>
            <a:ext cx="5490210" cy="472630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key_tech_intro</a:t>
            </a:r>
          </a:p>
        </p:txBody>
      </p:sp>
      <p:sp>
        <p:nvSpPr>
          <p:cNvPr id="10" name="矩形 9"/>
          <p:cNvSpPr/>
          <p:nvPr/>
        </p:nvSpPr>
        <p:spPr>
          <a:xfrm>
            <a:off x="412115" y="6036945"/>
            <a:ext cx="11318875" cy="631190"/>
          </a:xfrm>
          <a:prstGeom prst="rect">
            <a:avLst/>
          </a:prstGeom>
          <a:solidFill>
            <a:srgbClr val="7800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key_tech_summary</a:t>
            </a:r>
            <a:endParaRPr kumimoji="1" lang="en-US" altLang="zh-CN" sz="12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20130" y="5639859"/>
            <a:ext cx="5407875" cy="3130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说明：主题内容来源于会议官网，从论文录用、会议议程、征稿信息三者中按顺序选取之一</a:t>
            </a:r>
          </a:p>
        </p:txBody>
      </p:sp>
      <p:sp>
        <p:nvSpPr>
          <p:cNvPr id="14" name="矩形 13"/>
          <p:cNvSpPr/>
          <p:nvPr/>
        </p:nvSpPr>
        <p:spPr>
          <a:xfrm>
            <a:off x="6095365" y="25400"/>
            <a:ext cx="1198800" cy="216000"/>
          </a:xfrm>
          <a:prstGeom prst="rect">
            <a:avLst/>
          </a:prstGeom>
          <a:solidFill>
            <a:srgbClr val="A7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会议概览</a:t>
            </a:r>
          </a:p>
        </p:txBody>
      </p:sp>
      <p:sp>
        <p:nvSpPr>
          <p:cNvPr id="15" name="矩形 14"/>
          <p:cNvSpPr/>
          <p:nvPr/>
        </p:nvSpPr>
        <p:spPr>
          <a:xfrm>
            <a:off x="729297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Keynote</a:t>
            </a:r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</a:p>
        </p:txBody>
      </p:sp>
      <p:sp>
        <p:nvSpPr>
          <p:cNvPr id="16" name="矩形 15"/>
          <p:cNvSpPr/>
          <p:nvPr/>
        </p:nvSpPr>
        <p:spPr>
          <a:xfrm>
            <a:off x="848931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会议主题分析</a:t>
            </a:r>
          </a:p>
        </p:txBody>
      </p:sp>
      <p:sp>
        <p:nvSpPr>
          <p:cNvPr id="31" name="矩形 30"/>
          <p:cNvSpPr/>
          <p:nvPr/>
        </p:nvSpPr>
        <p:spPr>
          <a:xfrm>
            <a:off x="968184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优秀论文分析</a:t>
            </a:r>
          </a:p>
        </p:txBody>
      </p:sp>
      <p:sp>
        <p:nvSpPr>
          <p:cNvPr id="35" name="矩形 34"/>
          <p:cNvSpPr/>
          <p:nvPr/>
        </p:nvSpPr>
        <p:spPr>
          <a:xfrm>
            <a:off x="10881360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420130" y="295496"/>
            <a:ext cx="11467068" cy="52835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A72126"/>
                </a:solidFill>
              </a:rPr>
              <a:t>研究热点分析-</a:t>
            </a:r>
            <a:r>
              <a:rPr lang="zh-CN" altLang="en-US" sz="2400" b="1" dirty="0">
                <a:solidFill>
                  <a:srgbClr val="A72126"/>
                </a:solidFill>
              </a:rPr>
              <a:t>关键词分布与组合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Content Placeholder 2"/>
          <p:cNvSpPr txBox="1"/>
          <p:nvPr/>
        </p:nvSpPr>
        <p:spPr>
          <a:xfrm>
            <a:off x="5992668" y="975362"/>
            <a:ext cx="5880835" cy="4663069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/>
          <a:lstStyle>
            <a:lvl1pPr marL="12065" indent="0" algn="l" defTabSz="1188085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16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52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25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b="1" dirty="0"/>
          </a:p>
        </p:txBody>
      </p:sp>
      <p:sp>
        <p:nvSpPr>
          <p:cNvPr id="34" name="矩形 33"/>
          <p:cNvSpPr/>
          <p:nvPr/>
        </p:nvSpPr>
        <p:spPr>
          <a:xfrm>
            <a:off x="6098381" y="1051034"/>
            <a:ext cx="5691947" cy="38851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keyword_intro</a:t>
            </a:r>
          </a:p>
        </p:txBody>
      </p:sp>
      <p:sp>
        <p:nvSpPr>
          <p:cNvPr id="10" name="矩形 9"/>
          <p:cNvSpPr/>
          <p:nvPr/>
        </p:nvSpPr>
        <p:spPr>
          <a:xfrm>
            <a:off x="389890" y="6031865"/>
            <a:ext cx="11520170" cy="589915"/>
          </a:xfrm>
          <a:prstGeom prst="rect">
            <a:avLst/>
          </a:prstGeom>
          <a:solidFill>
            <a:srgbClr val="7800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keyword_summary</a:t>
            </a:r>
            <a:endParaRPr kumimoji="1" lang="en-US" altLang="zh-CN" sz="12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992442" y="5678436"/>
            <a:ext cx="5407875" cy="3130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说明：关键词来自会议论文 </a:t>
            </a:r>
            <a:r>
              <a:rPr kumimoji="1" lang="en-GB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keyword</a:t>
            </a:r>
            <a:r>
              <a:rPr kumimoji="1" lang="zh-CN" altLang="en-GB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或基于论文摘要解析（当缺少 </a:t>
            </a:r>
            <a:r>
              <a:rPr kumimoji="1" lang="en-GB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keyword </a:t>
            </a:r>
            <a:r>
              <a:rPr kumimoji="1"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时）</a:t>
            </a:r>
          </a:p>
        </p:txBody>
      </p:sp>
      <p:sp>
        <p:nvSpPr>
          <p:cNvPr id="11" name="矩形 10"/>
          <p:cNvSpPr/>
          <p:nvPr/>
        </p:nvSpPr>
        <p:spPr>
          <a:xfrm>
            <a:off x="515895" y="969399"/>
            <a:ext cx="1630344" cy="2747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关键词分布：</a:t>
            </a:r>
          </a:p>
        </p:txBody>
      </p:sp>
      <p:sp>
        <p:nvSpPr>
          <p:cNvPr id="13" name="矩形 12"/>
          <p:cNvSpPr/>
          <p:nvPr/>
        </p:nvSpPr>
        <p:spPr>
          <a:xfrm>
            <a:off x="515620" y="1243965"/>
            <a:ext cx="3493135" cy="18897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altLang="zh-CN" sz="1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keyword_cloud_png</a:t>
            </a:r>
            <a:endParaRPr lang="en-GB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20156" y="3172267"/>
            <a:ext cx="2492036" cy="2747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关键词组合分析：</a:t>
            </a:r>
          </a:p>
        </p:txBody>
      </p:sp>
      <p:sp>
        <p:nvSpPr>
          <p:cNvPr id="15" name="矩形 14"/>
          <p:cNvSpPr/>
          <p:nvPr/>
        </p:nvSpPr>
        <p:spPr>
          <a:xfrm>
            <a:off x="515895" y="3430580"/>
            <a:ext cx="4960566" cy="24251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altLang="zh-CN" sz="1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keyword_couple_analysis_png</a:t>
            </a:r>
            <a:endParaRPr lang="en-GB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095365" y="25400"/>
            <a:ext cx="1198800" cy="216000"/>
          </a:xfrm>
          <a:prstGeom prst="rect">
            <a:avLst/>
          </a:prstGeom>
          <a:solidFill>
            <a:srgbClr val="A7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会议概览</a:t>
            </a:r>
          </a:p>
        </p:txBody>
      </p:sp>
      <p:sp>
        <p:nvSpPr>
          <p:cNvPr id="17" name="矩形 16"/>
          <p:cNvSpPr/>
          <p:nvPr/>
        </p:nvSpPr>
        <p:spPr>
          <a:xfrm>
            <a:off x="729297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Keynote</a:t>
            </a:r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</a:p>
        </p:txBody>
      </p:sp>
      <p:sp>
        <p:nvSpPr>
          <p:cNvPr id="18" name="矩形 17"/>
          <p:cNvSpPr/>
          <p:nvPr/>
        </p:nvSpPr>
        <p:spPr>
          <a:xfrm>
            <a:off x="848931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会议主题分析</a:t>
            </a:r>
          </a:p>
        </p:txBody>
      </p:sp>
      <p:sp>
        <p:nvSpPr>
          <p:cNvPr id="31" name="矩形 30"/>
          <p:cNvSpPr/>
          <p:nvPr/>
        </p:nvSpPr>
        <p:spPr>
          <a:xfrm>
            <a:off x="968184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优秀论文分析</a:t>
            </a:r>
          </a:p>
        </p:txBody>
      </p:sp>
      <p:sp>
        <p:nvSpPr>
          <p:cNvPr id="35" name="矩形 34"/>
          <p:cNvSpPr/>
          <p:nvPr/>
        </p:nvSpPr>
        <p:spPr>
          <a:xfrm>
            <a:off x="10881360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420130" y="295496"/>
            <a:ext cx="11467068" cy="528350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solidFill>
                  <a:srgbClr val="A72126"/>
                </a:solidFill>
              </a:rPr>
              <a:t>研究热点分析-</a:t>
            </a:r>
            <a:r>
              <a:rPr lang="zh-CN" altLang="en-US" sz="2400" b="1" dirty="0">
                <a:solidFill>
                  <a:srgbClr val="A72126"/>
                </a:solidFill>
              </a:rPr>
              <a:t>关键词分类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Content Placeholder 2"/>
          <p:cNvSpPr txBox="1"/>
          <p:nvPr/>
        </p:nvSpPr>
        <p:spPr>
          <a:xfrm>
            <a:off x="7683863" y="975361"/>
            <a:ext cx="4147200" cy="4831605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/>
          <a:lstStyle>
            <a:lvl1pPr marL="12065" indent="0" algn="l" defTabSz="1188085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16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52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25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b="1" dirty="0"/>
          </a:p>
        </p:txBody>
      </p:sp>
      <p:sp>
        <p:nvSpPr>
          <p:cNvPr id="33" name="矩形 32"/>
          <p:cNvSpPr/>
          <p:nvPr/>
        </p:nvSpPr>
        <p:spPr>
          <a:xfrm>
            <a:off x="420370" y="975360"/>
            <a:ext cx="7020000" cy="4833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altLang="zh-CN" sz="1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keyword_topic_csv</a:t>
            </a:r>
            <a:endParaRPr lang="en-GB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7780655" y="1050925"/>
            <a:ext cx="3960000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keyword_topic_intro</a:t>
            </a:r>
          </a:p>
        </p:txBody>
      </p:sp>
      <p:sp>
        <p:nvSpPr>
          <p:cNvPr id="10" name="矩形 9"/>
          <p:cNvSpPr/>
          <p:nvPr/>
        </p:nvSpPr>
        <p:spPr>
          <a:xfrm>
            <a:off x="420370" y="6071235"/>
            <a:ext cx="11466830" cy="589915"/>
          </a:xfrm>
          <a:prstGeom prst="rect">
            <a:avLst/>
          </a:prstGeom>
          <a:solidFill>
            <a:srgbClr val="7800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keyword_topic_summary</a:t>
            </a:r>
            <a:endParaRPr kumimoji="1" lang="en-US" altLang="zh-CN" sz="12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095365" y="25400"/>
            <a:ext cx="1198800" cy="216000"/>
          </a:xfrm>
          <a:prstGeom prst="rect">
            <a:avLst/>
          </a:prstGeom>
          <a:solidFill>
            <a:srgbClr val="A7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会议概览</a:t>
            </a:r>
          </a:p>
        </p:txBody>
      </p:sp>
      <p:sp>
        <p:nvSpPr>
          <p:cNvPr id="15" name="矩形 14"/>
          <p:cNvSpPr/>
          <p:nvPr/>
        </p:nvSpPr>
        <p:spPr>
          <a:xfrm>
            <a:off x="729297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Keynote</a:t>
            </a:r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</a:p>
        </p:txBody>
      </p:sp>
      <p:sp>
        <p:nvSpPr>
          <p:cNvPr id="16" name="矩形 15"/>
          <p:cNvSpPr/>
          <p:nvPr/>
        </p:nvSpPr>
        <p:spPr>
          <a:xfrm>
            <a:off x="848931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会议主题分析</a:t>
            </a:r>
          </a:p>
        </p:txBody>
      </p:sp>
      <p:sp>
        <p:nvSpPr>
          <p:cNvPr id="31" name="矩形 30"/>
          <p:cNvSpPr/>
          <p:nvPr/>
        </p:nvSpPr>
        <p:spPr>
          <a:xfrm>
            <a:off x="968184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优秀论文分析</a:t>
            </a:r>
          </a:p>
        </p:txBody>
      </p:sp>
      <p:sp>
        <p:nvSpPr>
          <p:cNvPr id="35" name="矩形 34"/>
          <p:cNvSpPr/>
          <p:nvPr/>
        </p:nvSpPr>
        <p:spPr>
          <a:xfrm>
            <a:off x="10881360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420130" y="295496"/>
            <a:ext cx="11467068" cy="528350"/>
          </a:xfrm>
        </p:spPr>
        <p:txBody>
          <a:bodyPr>
            <a:normAutofit/>
          </a:bodyPr>
          <a:lstStyle/>
          <a:p>
            <a:pPr algn="l">
              <a:buClrTx/>
              <a:buSzTx/>
            </a:pPr>
            <a:r>
              <a:rPr lang="en-US" altLang="zh-CN" sz="2400" b="1" dirty="0">
                <a:solidFill>
                  <a:srgbClr val="A72126"/>
                </a:solidFill>
              </a:rPr>
              <a:t>国家/地区技术特征分析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Content Placeholder 2"/>
          <p:cNvSpPr txBox="1"/>
          <p:nvPr/>
        </p:nvSpPr>
        <p:spPr>
          <a:xfrm>
            <a:off x="7008033" y="982982"/>
            <a:ext cx="4788000" cy="4617481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/>
          <a:lstStyle>
            <a:lvl1pPr marL="12065" indent="0" algn="l" defTabSz="1188085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16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52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25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b="1" dirty="0"/>
          </a:p>
        </p:txBody>
      </p:sp>
      <p:sp>
        <p:nvSpPr>
          <p:cNvPr id="34" name="矩形 33"/>
          <p:cNvSpPr/>
          <p:nvPr/>
        </p:nvSpPr>
        <p:spPr>
          <a:xfrm>
            <a:off x="7113905" y="1058545"/>
            <a:ext cx="4634865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country_tech_intro</a:t>
            </a:r>
          </a:p>
        </p:txBody>
      </p:sp>
      <p:sp>
        <p:nvSpPr>
          <p:cNvPr id="10" name="矩形 9"/>
          <p:cNvSpPr/>
          <p:nvPr/>
        </p:nvSpPr>
        <p:spPr>
          <a:xfrm>
            <a:off x="421005" y="6012815"/>
            <a:ext cx="11482705" cy="589915"/>
          </a:xfrm>
          <a:prstGeom prst="rect">
            <a:avLst/>
          </a:prstGeom>
          <a:solidFill>
            <a:srgbClr val="7800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country_tech_summary</a:t>
            </a:r>
            <a:endParaRPr kumimoji="1" lang="en-US" altLang="zh-CN" sz="12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88688" y="5650447"/>
            <a:ext cx="5407875" cy="3130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说明：技术优势占比指国家在该主题论文占该主题所有论文的比例，超过</a:t>
            </a: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视为优势技术。</a:t>
            </a:r>
            <a:endParaRPr kumimoji="1" lang="zh-CN" altLang="en-US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15895" y="969399"/>
            <a:ext cx="2936222" cy="2747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6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TopN</a:t>
            </a:r>
            <a:r>
              <a:rPr kumimoji="1"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国家</a:t>
            </a:r>
            <a:r>
              <a:rPr kumimoji="1"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地区排名：</a:t>
            </a:r>
          </a:p>
        </p:txBody>
      </p:sp>
      <p:sp>
        <p:nvSpPr>
          <p:cNvPr id="13" name="矩形 12"/>
          <p:cNvSpPr/>
          <p:nvPr/>
        </p:nvSpPr>
        <p:spPr>
          <a:xfrm>
            <a:off x="515620" y="1243965"/>
            <a:ext cx="2843530" cy="17297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altLang="zh-CN" sz="1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country_tech_top_png</a:t>
            </a:r>
            <a:endParaRPr lang="en-GB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19520" y="2981132"/>
            <a:ext cx="2849629" cy="2747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国家</a:t>
            </a:r>
            <a:r>
              <a:rPr kumimoji="1"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地区技术优势矩阵：</a:t>
            </a:r>
          </a:p>
        </p:txBody>
      </p:sp>
      <p:sp>
        <p:nvSpPr>
          <p:cNvPr id="15" name="矩形 14"/>
          <p:cNvSpPr/>
          <p:nvPr/>
        </p:nvSpPr>
        <p:spPr>
          <a:xfrm>
            <a:off x="519430" y="3256280"/>
            <a:ext cx="6120000" cy="259905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altLang="zh-CN" sz="1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country_tech_strength_csv</a:t>
            </a:r>
            <a:endParaRPr lang="en-GB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GB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095365" y="25400"/>
            <a:ext cx="1198800" cy="216000"/>
          </a:xfrm>
          <a:prstGeom prst="rect">
            <a:avLst/>
          </a:prstGeom>
          <a:solidFill>
            <a:srgbClr val="A7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会议概览</a:t>
            </a:r>
          </a:p>
        </p:txBody>
      </p:sp>
      <p:sp>
        <p:nvSpPr>
          <p:cNvPr id="17" name="矩形 16"/>
          <p:cNvSpPr/>
          <p:nvPr/>
        </p:nvSpPr>
        <p:spPr>
          <a:xfrm>
            <a:off x="729297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Keynote</a:t>
            </a:r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</a:p>
        </p:txBody>
      </p:sp>
      <p:sp>
        <p:nvSpPr>
          <p:cNvPr id="18" name="矩形 17"/>
          <p:cNvSpPr/>
          <p:nvPr/>
        </p:nvSpPr>
        <p:spPr>
          <a:xfrm>
            <a:off x="848931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会议主题分析</a:t>
            </a:r>
          </a:p>
        </p:txBody>
      </p:sp>
      <p:sp>
        <p:nvSpPr>
          <p:cNvPr id="31" name="矩形 30"/>
          <p:cNvSpPr/>
          <p:nvPr/>
        </p:nvSpPr>
        <p:spPr>
          <a:xfrm>
            <a:off x="968184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优秀论文分析</a:t>
            </a:r>
          </a:p>
        </p:txBody>
      </p:sp>
      <p:sp>
        <p:nvSpPr>
          <p:cNvPr id="35" name="矩形 34"/>
          <p:cNvSpPr/>
          <p:nvPr/>
        </p:nvSpPr>
        <p:spPr>
          <a:xfrm>
            <a:off x="10881360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420130" y="295496"/>
            <a:ext cx="11467068" cy="528350"/>
          </a:xfrm>
        </p:spPr>
        <p:txBody>
          <a:bodyPr>
            <a:normAutofit/>
          </a:bodyPr>
          <a:lstStyle/>
          <a:p>
            <a:pPr algn="l">
              <a:buClrTx/>
              <a:buSzTx/>
            </a:pPr>
            <a:r>
              <a:rPr lang="en-US" altLang="zh-CN" sz="2400" b="1" dirty="0">
                <a:solidFill>
                  <a:srgbClr val="A72126"/>
                </a:solidFill>
              </a:rPr>
              <a:t>机构技术特征分析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Content Placeholder 2"/>
          <p:cNvSpPr txBox="1"/>
          <p:nvPr/>
        </p:nvSpPr>
        <p:spPr>
          <a:xfrm>
            <a:off x="5992669" y="975361"/>
            <a:ext cx="5797660" cy="4831605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/>
          <a:lstStyle>
            <a:lvl1pPr marL="12065" indent="0" algn="l" defTabSz="1188085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16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52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25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b="1" dirty="0"/>
          </a:p>
        </p:txBody>
      </p:sp>
      <p:sp>
        <p:nvSpPr>
          <p:cNvPr id="34" name="矩形 33"/>
          <p:cNvSpPr/>
          <p:nvPr/>
        </p:nvSpPr>
        <p:spPr>
          <a:xfrm>
            <a:off x="6098540" y="1050925"/>
            <a:ext cx="5616000" cy="4617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institution_tech_feat_intro</a:t>
            </a:r>
          </a:p>
        </p:txBody>
      </p:sp>
      <p:sp>
        <p:nvSpPr>
          <p:cNvPr id="10" name="矩形 9"/>
          <p:cNvSpPr/>
          <p:nvPr/>
        </p:nvSpPr>
        <p:spPr>
          <a:xfrm>
            <a:off x="420370" y="6034405"/>
            <a:ext cx="11369675" cy="589915"/>
          </a:xfrm>
          <a:prstGeom prst="rect">
            <a:avLst/>
          </a:prstGeom>
          <a:solidFill>
            <a:srgbClr val="7800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institution_tech_feat_summary</a:t>
            </a:r>
            <a:endParaRPr kumimoji="1" lang="en-US" altLang="zh-CN" sz="12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15895" y="969399"/>
            <a:ext cx="2936222" cy="2747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6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TopN</a:t>
            </a:r>
            <a:r>
              <a:rPr kumimoji="1"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机构排名：</a:t>
            </a:r>
          </a:p>
        </p:txBody>
      </p:sp>
      <p:sp>
        <p:nvSpPr>
          <p:cNvPr id="13" name="矩形 12"/>
          <p:cNvSpPr/>
          <p:nvPr/>
        </p:nvSpPr>
        <p:spPr>
          <a:xfrm>
            <a:off x="515896" y="1244110"/>
            <a:ext cx="2849384" cy="171814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altLang="zh-CN" dirty="0" err="1">
                <a:solidFill>
                  <a:srgbClr val="FF0000"/>
                </a:solidFill>
              </a:rPr>
              <a:t>top_institution_png</a:t>
            </a:r>
            <a:endParaRPr lang="en-GB" altLang="zh-CN" dirty="0">
              <a:solidFill>
                <a:srgbClr val="FF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15650" y="3087576"/>
            <a:ext cx="2849629" cy="2747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产学研类型占比分析：</a:t>
            </a:r>
          </a:p>
        </p:txBody>
      </p:sp>
      <p:sp>
        <p:nvSpPr>
          <p:cNvPr id="15" name="矩形 14"/>
          <p:cNvSpPr/>
          <p:nvPr/>
        </p:nvSpPr>
        <p:spPr>
          <a:xfrm>
            <a:off x="515894" y="3382518"/>
            <a:ext cx="3862800" cy="2426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altLang="zh-CN" sz="1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company_school_analysis_png</a:t>
            </a:r>
            <a:endParaRPr lang="en-GB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GB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095365" y="25400"/>
            <a:ext cx="1198800" cy="216000"/>
          </a:xfrm>
          <a:prstGeom prst="rect">
            <a:avLst/>
          </a:prstGeom>
          <a:solidFill>
            <a:srgbClr val="A7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会议概览</a:t>
            </a:r>
          </a:p>
        </p:txBody>
      </p:sp>
      <p:sp>
        <p:nvSpPr>
          <p:cNvPr id="16" name="矩形 15"/>
          <p:cNvSpPr/>
          <p:nvPr/>
        </p:nvSpPr>
        <p:spPr>
          <a:xfrm>
            <a:off x="729297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Keynote</a:t>
            </a:r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</a:p>
        </p:txBody>
      </p:sp>
      <p:sp>
        <p:nvSpPr>
          <p:cNvPr id="17" name="矩形 16"/>
          <p:cNvSpPr/>
          <p:nvPr/>
        </p:nvSpPr>
        <p:spPr>
          <a:xfrm>
            <a:off x="848931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会议主题分析</a:t>
            </a:r>
          </a:p>
        </p:txBody>
      </p:sp>
      <p:sp>
        <p:nvSpPr>
          <p:cNvPr id="31" name="矩形 30"/>
          <p:cNvSpPr/>
          <p:nvPr/>
        </p:nvSpPr>
        <p:spPr>
          <a:xfrm>
            <a:off x="968184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优秀论文分析</a:t>
            </a:r>
          </a:p>
        </p:txBody>
      </p:sp>
      <p:sp>
        <p:nvSpPr>
          <p:cNvPr id="35" name="矩形 34"/>
          <p:cNvSpPr/>
          <p:nvPr/>
        </p:nvSpPr>
        <p:spPr>
          <a:xfrm>
            <a:off x="10881360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420130" y="295496"/>
            <a:ext cx="11467068" cy="528350"/>
          </a:xfrm>
        </p:spPr>
        <p:txBody>
          <a:bodyPr>
            <a:normAutofit/>
          </a:bodyPr>
          <a:lstStyle/>
          <a:p>
            <a:pPr algn="l">
              <a:buClrTx/>
              <a:buSzTx/>
            </a:pPr>
            <a:r>
              <a:rPr lang="en-US" altLang="zh-CN" sz="2400" b="1" dirty="0">
                <a:solidFill>
                  <a:srgbClr val="A72126"/>
                </a:solidFill>
              </a:rPr>
              <a:t>机构技术优势分析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Content Placeholder 2"/>
          <p:cNvSpPr txBox="1"/>
          <p:nvPr/>
        </p:nvSpPr>
        <p:spPr>
          <a:xfrm>
            <a:off x="5992669" y="975362"/>
            <a:ext cx="5797660" cy="4520040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/>
          <a:lstStyle>
            <a:lvl1pPr marL="12065" indent="0" algn="l" defTabSz="1188085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16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52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25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b="1" dirty="0"/>
          </a:p>
        </p:txBody>
      </p:sp>
      <p:sp>
        <p:nvSpPr>
          <p:cNvPr id="34" name="矩形 33"/>
          <p:cNvSpPr/>
          <p:nvPr/>
        </p:nvSpPr>
        <p:spPr>
          <a:xfrm>
            <a:off x="6098540" y="1050925"/>
            <a:ext cx="5580000" cy="3996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institution_tech_strength_intro</a:t>
            </a:r>
          </a:p>
        </p:txBody>
      </p:sp>
      <p:sp>
        <p:nvSpPr>
          <p:cNvPr id="10" name="矩形 9"/>
          <p:cNvSpPr/>
          <p:nvPr/>
        </p:nvSpPr>
        <p:spPr>
          <a:xfrm>
            <a:off x="382270" y="6030595"/>
            <a:ext cx="11421745" cy="589915"/>
          </a:xfrm>
          <a:prstGeom prst="rect">
            <a:avLst/>
          </a:prstGeom>
          <a:solidFill>
            <a:srgbClr val="7800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institution_tech_strength_summary</a:t>
            </a:r>
            <a:endParaRPr kumimoji="1" lang="en-US" altLang="zh-CN" sz="12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7654" y="975424"/>
            <a:ext cx="427996" cy="17181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r>
              <a:rPr kumimoji="1"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高校技术优势矩阵</a:t>
            </a:r>
          </a:p>
        </p:txBody>
      </p:sp>
      <p:sp>
        <p:nvSpPr>
          <p:cNvPr id="13" name="矩形 12"/>
          <p:cNvSpPr/>
          <p:nvPr/>
        </p:nvSpPr>
        <p:spPr>
          <a:xfrm>
            <a:off x="515620" y="864235"/>
            <a:ext cx="5144770" cy="23298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altLang="zh-CN" dirty="0" err="1">
                <a:solidFill>
                  <a:srgbClr val="FF0000"/>
                </a:solidFill>
              </a:rPr>
              <a:t>university_tech_strength_csv</a:t>
            </a:r>
            <a:endParaRPr lang="en-GB" altLang="zh-CN" dirty="0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15894" y="3223491"/>
            <a:ext cx="5144497" cy="22719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GB" altLang="zh-CN" sz="1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ny_tech_strength_csv</a:t>
            </a:r>
            <a:endParaRPr lang="en-GB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7654" y="3422831"/>
            <a:ext cx="427996" cy="17181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r>
              <a:rPr kumimoji="1"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企业技术优势矩阵</a:t>
            </a:r>
          </a:p>
        </p:txBody>
      </p:sp>
      <p:sp>
        <p:nvSpPr>
          <p:cNvPr id="16" name="矩形 15"/>
          <p:cNvSpPr/>
          <p:nvPr/>
        </p:nvSpPr>
        <p:spPr>
          <a:xfrm>
            <a:off x="5845122" y="5650447"/>
            <a:ext cx="5407875" cy="3130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说明：技术优势占比指机构在该主题论文占该主题所有论文的比例，超过</a:t>
            </a: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5%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视为优势技术。</a:t>
            </a:r>
          </a:p>
        </p:txBody>
      </p:sp>
      <p:sp>
        <p:nvSpPr>
          <p:cNvPr id="14" name="矩形 13"/>
          <p:cNvSpPr/>
          <p:nvPr/>
        </p:nvSpPr>
        <p:spPr>
          <a:xfrm>
            <a:off x="6095365" y="25400"/>
            <a:ext cx="1198800" cy="216000"/>
          </a:xfrm>
          <a:prstGeom prst="rect">
            <a:avLst/>
          </a:prstGeom>
          <a:solidFill>
            <a:srgbClr val="A7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会议概览</a:t>
            </a:r>
          </a:p>
        </p:txBody>
      </p:sp>
      <p:sp>
        <p:nvSpPr>
          <p:cNvPr id="17" name="矩形 16"/>
          <p:cNvSpPr/>
          <p:nvPr/>
        </p:nvSpPr>
        <p:spPr>
          <a:xfrm>
            <a:off x="729297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Keynote</a:t>
            </a:r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</a:p>
        </p:txBody>
      </p:sp>
      <p:sp>
        <p:nvSpPr>
          <p:cNvPr id="18" name="矩形 17"/>
          <p:cNvSpPr/>
          <p:nvPr/>
        </p:nvSpPr>
        <p:spPr>
          <a:xfrm>
            <a:off x="848931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会议主题分析</a:t>
            </a:r>
          </a:p>
        </p:txBody>
      </p:sp>
      <p:sp>
        <p:nvSpPr>
          <p:cNvPr id="31" name="矩形 30"/>
          <p:cNvSpPr/>
          <p:nvPr/>
        </p:nvSpPr>
        <p:spPr>
          <a:xfrm>
            <a:off x="968184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优秀论文分析</a:t>
            </a:r>
          </a:p>
        </p:txBody>
      </p:sp>
      <p:sp>
        <p:nvSpPr>
          <p:cNvPr id="35" name="矩形 34"/>
          <p:cNvSpPr/>
          <p:nvPr/>
        </p:nvSpPr>
        <p:spPr>
          <a:xfrm>
            <a:off x="10881360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420130" y="295496"/>
            <a:ext cx="11467068" cy="528350"/>
          </a:xfrm>
        </p:spPr>
        <p:txBody>
          <a:bodyPr>
            <a:normAutofit/>
          </a:bodyPr>
          <a:lstStyle/>
          <a:p>
            <a:pPr algn="l">
              <a:buClrTx/>
              <a:buSzTx/>
            </a:pPr>
            <a:r>
              <a:rPr lang="en-US" altLang="zh-CN" sz="2400" b="1" dirty="0">
                <a:solidFill>
                  <a:srgbClr val="A72126"/>
                </a:solidFill>
              </a:rPr>
              <a:t>跨机构合作网络分析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Content Placeholder 2"/>
          <p:cNvSpPr txBox="1"/>
          <p:nvPr/>
        </p:nvSpPr>
        <p:spPr>
          <a:xfrm>
            <a:off x="5883910" y="975362"/>
            <a:ext cx="5882278" cy="4574512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/>
          <a:lstStyle>
            <a:lvl1pPr marL="12065" indent="0" algn="l" defTabSz="1188085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16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52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25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b="1" dirty="0"/>
          </a:p>
        </p:txBody>
      </p:sp>
      <p:sp>
        <p:nvSpPr>
          <p:cNvPr id="33" name="矩形 32"/>
          <p:cNvSpPr/>
          <p:nvPr/>
        </p:nvSpPr>
        <p:spPr>
          <a:xfrm>
            <a:off x="743866" y="1289010"/>
            <a:ext cx="4576762" cy="39472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altLang="zh-CN" sz="1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institution_cooperation_png</a:t>
            </a:r>
            <a:endParaRPr lang="en-GB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991066" y="1051033"/>
            <a:ext cx="5691947" cy="44268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institution_cooperation_intro</a:t>
            </a:r>
          </a:p>
        </p:txBody>
      </p:sp>
      <p:sp>
        <p:nvSpPr>
          <p:cNvPr id="10" name="矩形 9"/>
          <p:cNvSpPr/>
          <p:nvPr/>
        </p:nvSpPr>
        <p:spPr>
          <a:xfrm>
            <a:off x="393700" y="6015355"/>
            <a:ext cx="11410315" cy="589915"/>
          </a:xfrm>
          <a:prstGeom prst="rect">
            <a:avLst/>
          </a:prstGeom>
          <a:solidFill>
            <a:srgbClr val="7800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institution_cooperation_summary</a:t>
            </a:r>
            <a:endParaRPr kumimoji="1" lang="en-US" altLang="zh-CN" sz="12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095365" y="25400"/>
            <a:ext cx="1198800" cy="216000"/>
          </a:xfrm>
          <a:prstGeom prst="rect">
            <a:avLst/>
          </a:prstGeom>
          <a:solidFill>
            <a:srgbClr val="A7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会议概览</a:t>
            </a:r>
          </a:p>
        </p:txBody>
      </p:sp>
      <p:sp>
        <p:nvSpPr>
          <p:cNvPr id="15" name="矩形 14"/>
          <p:cNvSpPr/>
          <p:nvPr/>
        </p:nvSpPr>
        <p:spPr>
          <a:xfrm>
            <a:off x="729297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Keynote</a:t>
            </a:r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</a:p>
        </p:txBody>
      </p:sp>
      <p:sp>
        <p:nvSpPr>
          <p:cNvPr id="16" name="矩形 15"/>
          <p:cNvSpPr/>
          <p:nvPr/>
        </p:nvSpPr>
        <p:spPr>
          <a:xfrm>
            <a:off x="848931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会议主题分析</a:t>
            </a:r>
          </a:p>
        </p:txBody>
      </p:sp>
      <p:sp>
        <p:nvSpPr>
          <p:cNvPr id="31" name="矩形 30"/>
          <p:cNvSpPr/>
          <p:nvPr/>
        </p:nvSpPr>
        <p:spPr>
          <a:xfrm>
            <a:off x="968184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优秀论文分析</a:t>
            </a:r>
          </a:p>
        </p:txBody>
      </p:sp>
      <p:sp>
        <p:nvSpPr>
          <p:cNvPr id="35" name="矩形 34"/>
          <p:cNvSpPr/>
          <p:nvPr/>
        </p:nvSpPr>
        <p:spPr>
          <a:xfrm>
            <a:off x="10881360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420130" y="295496"/>
            <a:ext cx="11467068" cy="528350"/>
          </a:xfrm>
        </p:spPr>
        <p:txBody>
          <a:bodyPr>
            <a:normAutofit/>
          </a:bodyPr>
          <a:lstStyle/>
          <a:p>
            <a:pPr algn="l">
              <a:buClrTx/>
              <a:buSzTx/>
            </a:pPr>
            <a:r>
              <a:rPr lang="en-US" altLang="zh-CN" sz="2400" b="1" dirty="0">
                <a:solidFill>
                  <a:srgbClr val="A72126"/>
                </a:solidFill>
              </a:rPr>
              <a:t>高潜技术转化分析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Content Placeholder 2"/>
          <p:cNvSpPr txBox="1"/>
          <p:nvPr/>
        </p:nvSpPr>
        <p:spPr>
          <a:xfrm>
            <a:off x="6759184" y="975362"/>
            <a:ext cx="4980333" cy="4550194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/>
          <a:lstStyle>
            <a:lvl1pPr marL="12065" indent="0" algn="l" defTabSz="1188085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16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52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25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b="1" dirty="0"/>
          </a:p>
        </p:txBody>
      </p:sp>
      <p:sp>
        <p:nvSpPr>
          <p:cNvPr id="33" name="矩形 32"/>
          <p:cNvSpPr/>
          <p:nvPr/>
        </p:nvSpPr>
        <p:spPr>
          <a:xfrm>
            <a:off x="522605" y="975360"/>
            <a:ext cx="6015990" cy="49079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altLang="zh-CN" sz="1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high_potential_csv</a:t>
            </a:r>
            <a:endParaRPr lang="en-GB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889667" y="1051034"/>
            <a:ext cx="4766676" cy="39028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high_potential_intro</a:t>
            </a:r>
          </a:p>
        </p:txBody>
      </p:sp>
      <p:sp>
        <p:nvSpPr>
          <p:cNvPr id="10" name="矩形 9"/>
          <p:cNvSpPr/>
          <p:nvPr/>
        </p:nvSpPr>
        <p:spPr>
          <a:xfrm>
            <a:off x="421640" y="6060440"/>
            <a:ext cx="11368405" cy="589915"/>
          </a:xfrm>
          <a:prstGeom prst="rect">
            <a:avLst/>
          </a:prstGeom>
          <a:solidFill>
            <a:srgbClr val="7800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high_potential_summary</a:t>
            </a:r>
            <a:endParaRPr kumimoji="1" lang="en-US" altLang="zh-CN" sz="12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738077" y="5590010"/>
            <a:ext cx="5001440" cy="4306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说明：论文根据获奖</a:t>
            </a: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(+0.3)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、企业参与</a:t>
            </a: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(+0.3)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、落地</a:t>
            </a: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开源</a:t>
            </a: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(+0.2)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、社区热议高</a:t>
            </a: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(+0.2/0.1/0)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GB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Session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重点</a:t>
            </a: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(+0.1)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进行加权评分以确定高潜论文。</a:t>
            </a:r>
          </a:p>
        </p:txBody>
      </p:sp>
      <p:sp>
        <p:nvSpPr>
          <p:cNvPr id="14" name="矩形 13"/>
          <p:cNvSpPr/>
          <p:nvPr/>
        </p:nvSpPr>
        <p:spPr>
          <a:xfrm>
            <a:off x="6095365" y="25400"/>
            <a:ext cx="1198800" cy="216000"/>
          </a:xfrm>
          <a:prstGeom prst="rect">
            <a:avLst/>
          </a:prstGeom>
          <a:solidFill>
            <a:srgbClr val="A7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会议概览</a:t>
            </a:r>
          </a:p>
        </p:txBody>
      </p:sp>
      <p:sp>
        <p:nvSpPr>
          <p:cNvPr id="15" name="矩形 14"/>
          <p:cNvSpPr/>
          <p:nvPr/>
        </p:nvSpPr>
        <p:spPr>
          <a:xfrm>
            <a:off x="729297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Keynote</a:t>
            </a:r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</a:p>
        </p:txBody>
      </p:sp>
      <p:sp>
        <p:nvSpPr>
          <p:cNvPr id="16" name="矩形 15"/>
          <p:cNvSpPr/>
          <p:nvPr/>
        </p:nvSpPr>
        <p:spPr>
          <a:xfrm>
            <a:off x="848931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会议主题分析</a:t>
            </a:r>
          </a:p>
        </p:txBody>
      </p:sp>
      <p:sp>
        <p:nvSpPr>
          <p:cNvPr id="31" name="矩形 30"/>
          <p:cNvSpPr/>
          <p:nvPr/>
        </p:nvSpPr>
        <p:spPr>
          <a:xfrm>
            <a:off x="968184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优秀论文分析</a:t>
            </a:r>
          </a:p>
        </p:txBody>
      </p:sp>
      <p:sp>
        <p:nvSpPr>
          <p:cNvPr id="35" name="矩形 34"/>
          <p:cNvSpPr/>
          <p:nvPr/>
        </p:nvSpPr>
        <p:spPr>
          <a:xfrm>
            <a:off x="10881360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420130" y="295496"/>
            <a:ext cx="11467068" cy="528350"/>
          </a:xfrm>
        </p:spPr>
        <p:txBody>
          <a:bodyPr>
            <a:normAutofit/>
          </a:bodyPr>
          <a:lstStyle/>
          <a:p>
            <a:pPr algn="l">
              <a:buClrTx/>
              <a:buSzTx/>
            </a:pPr>
            <a:r>
              <a:rPr lang="en-US" altLang="zh-CN" sz="2400" b="1" dirty="0">
                <a:solidFill>
                  <a:srgbClr val="A72126"/>
                </a:solidFill>
              </a:rPr>
              <a:t>keynote_title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400810" y="876300"/>
            <a:ext cx="8807450" cy="2590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speaker</a:t>
            </a:r>
          </a:p>
        </p:txBody>
      </p:sp>
      <p:sp>
        <p:nvSpPr>
          <p:cNvPr id="3" name="矩形 2"/>
          <p:cNvSpPr/>
          <p:nvPr/>
        </p:nvSpPr>
        <p:spPr>
          <a:xfrm>
            <a:off x="420131" y="876300"/>
            <a:ext cx="1047520" cy="2592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演讲嘉宾：</a:t>
            </a:r>
          </a:p>
        </p:txBody>
      </p:sp>
      <p:sp>
        <p:nvSpPr>
          <p:cNvPr id="4" name="矩形 3"/>
          <p:cNvSpPr/>
          <p:nvPr/>
        </p:nvSpPr>
        <p:spPr>
          <a:xfrm>
            <a:off x="420130" y="1368387"/>
            <a:ext cx="2923961" cy="2592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主要内容和思想：</a:t>
            </a:r>
          </a:p>
        </p:txBody>
      </p:sp>
      <p:sp>
        <p:nvSpPr>
          <p:cNvPr id="6" name="矩形 5"/>
          <p:cNvSpPr/>
          <p:nvPr/>
        </p:nvSpPr>
        <p:spPr>
          <a:xfrm>
            <a:off x="420370" y="2276475"/>
            <a:ext cx="11452225" cy="782320"/>
          </a:xfrm>
          <a:prstGeom prst="rect">
            <a:avLst/>
          </a:prstGeom>
          <a:noFill/>
          <a:ln>
            <a:solidFill>
              <a:srgbClr val="2B63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5993765" y="2147570"/>
            <a:ext cx="774065" cy="2489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Why</a:t>
            </a:r>
          </a:p>
        </p:txBody>
      </p:sp>
      <p:sp>
        <p:nvSpPr>
          <p:cNvPr id="22" name="矩形 21"/>
          <p:cNvSpPr/>
          <p:nvPr/>
        </p:nvSpPr>
        <p:spPr>
          <a:xfrm>
            <a:off x="420128" y="3184790"/>
            <a:ext cx="11453375" cy="782216"/>
          </a:xfrm>
          <a:prstGeom prst="rect">
            <a:avLst/>
          </a:prstGeom>
          <a:noFill/>
          <a:ln>
            <a:solidFill>
              <a:srgbClr val="2B63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024092" y="3099172"/>
            <a:ext cx="743738" cy="2486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What</a:t>
            </a:r>
          </a:p>
        </p:txBody>
      </p:sp>
      <p:sp>
        <p:nvSpPr>
          <p:cNvPr id="25" name="矩形 24"/>
          <p:cNvSpPr/>
          <p:nvPr/>
        </p:nvSpPr>
        <p:spPr>
          <a:xfrm>
            <a:off x="420129" y="4089941"/>
            <a:ext cx="11453374" cy="782216"/>
          </a:xfrm>
          <a:prstGeom prst="rect">
            <a:avLst/>
          </a:prstGeom>
          <a:noFill/>
          <a:ln>
            <a:solidFill>
              <a:srgbClr val="2B63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024092" y="3994163"/>
            <a:ext cx="743738" cy="2486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How</a:t>
            </a:r>
          </a:p>
        </p:txBody>
      </p:sp>
      <p:sp>
        <p:nvSpPr>
          <p:cNvPr id="28" name="矩形 27"/>
          <p:cNvSpPr/>
          <p:nvPr/>
        </p:nvSpPr>
        <p:spPr>
          <a:xfrm>
            <a:off x="420130" y="4932994"/>
            <a:ext cx="2923961" cy="2592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业务启发：</a:t>
            </a:r>
          </a:p>
        </p:txBody>
      </p:sp>
      <p:sp>
        <p:nvSpPr>
          <p:cNvPr id="29" name="矩形 28"/>
          <p:cNvSpPr/>
          <p:nvPr/>
        </p:nvSpPr>
        <p:spPr>
          <a:xfrm>
            <a:off x="414384" y="5181663"/>
            <a:ext cx="11453374" cy="71467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keynote_inspiration</a:t>
            </a:r>
          </a:p>
        </p:txBody>
      </p:sp>
      <p:sp>
        <p:nvSpPr>
          <p:cNvPr id="30" name="矩形 29"/>
          <p:cNvSpPr/>
          <p:nvPr/>
        </p:nvSpPr>
        <p:spPr>
          <a:xfrm>
            <a:off x="10447020" y="529590"/>
            <a:ext cx="1440000" cy="144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keynote_picture</a:t>
            </a:r>
          </a:p>
        </p:txBody>
      </p:sp>
      <p:sp>
        <p:nvSpPr>
          <p:cNvPr id="16" name="矩形 15"/>
          <p:cNvSpPr/>
          <p:nvPr/>
        </p:nvSpPr>
        <p:spPr>
          <a:xfrm>
            <a:off x="415290" y="6015990"/>
            <a:ext cx="11463020" cy="589915"/>
          </a:xfrm>
          <a:prstGeom prst="rect">
            <a:avLst/>
          </a:prstGeom>
          <a:solidFill>
            <a:srgbClr val="7800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keynote_summary</a:t>
            </a:r>
            <a:endParaRPr kumimoji="1" lang="en-US" altLang="zh-CN" sz="12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095365" y="25400"/>
            <a:ext cx="119880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会议概览</a:t>
            </a:r>
          </a:p>
        </p:txBody>
      </p:sp>
      <p:sp>
        <p:nvSpPr>
          <p:cNvPr id="18" name="矩形 17"/>
          <p:cNvSpPr/>
          <p:nvPr/>
        </p:nvSpPr>
        <p:spPr>
          <a:xfrm>
            <a:off x="7292975" y="25400"/>
            <a:ext cx="1197610" cy="216000"/>
          </a:xfrm>
          <a:prstGeom prst="rect">
            <a:avLst/>
          </a:prstGeom>
          <a:solidFill>
            <a:srgbClr val="A7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Keynote分析</a:t>
            </a:r>
          </a:p>
        </p:txBody>
      </p:sp>
      <p:sp>
        <p:nvSpPr>
          <p:cNvPr id="19" name="矩形 18"/>
          <p:cNvSpPr/>
          <p:nvPr/>
        </p:nvSpPr>
        <p:spPr>
          <a:xfrm>
            <a:off x="848931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会议主题分析</a:t>
            </a:r>
          </a:p>
        </p:txBody>
      </p:sp>
      <p:sp>
        <p:nvSpPr>
          <p:cNvPr id="31" name="矩形 30"/>
          <p:cNvSpPr/>
          <p:nvPr/>
        </p:nvSpPr>
        <p:spPr>
          <a:xfrm>
            <a:off x="968184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优秀论文分析</a:t>
            </a:r>
          </a:p>
        </p:txBody>
      </p:sp>
      <p:sp>
        <p:nvSpPr>
          <p:cNvPr id="35" name="矩形 34"/>
          <p:cNvSpPr/>
          <p:nvPr/>
        </p:nvSpPr>
        <p:spPr>
          <a:xfrm>
            <a:off x="10881360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sp>
        <p:nvSpPr>
          <p:cNvPr id="9" name="矩形 8"/>
          <p:cNvSpPr/>
          <p:nvPr/>
        </p:nvSpPr>
        <p:spPr>
          <a:xfrm>
            <a:off x="497840" y="2399030"/>
            <a:ext cx="11295380" cy="602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keynote_background</a:t>
            </a:r>
          </a:p>
        </p:txBody>
      </p:sp>
      <p:sp>
        <p:nvSpPr>
          <p:cNvPr id="24" name="矩形 23"/>
          <p:cNvSpPr/>
          <p:nvPr/>
        </p:nvSpPr>
        <p:spPr>
          <a:xfrm>
            <a:off x="497840" y="3307080"/>
            <a:ext cx="1129538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keynote_objective</a:t>
            </a:r>
          </a:p>
        </p:txBody>
      </p:sp>
      <p:sp>
        <p:nvSpPr>
          <p:cNvPr id="27" name="矩形 26"/>
          <p:cNvSpPr/>
          <p:nvPr/>
        </p:nvSpPr>
        <p:spPr>
          <a:xfrm>
            <a:off x="497840" y="4212590"/>
            <a:ext cx="11294745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keynote_method</a:t>
            </a:r>
          </a:p>
        </p:txBody>
      </p:sp>
      <p:sp>
        <p:nvSpPr>
          <p:cNvPr id="5" name="矩形 4"/>
          <p:cNvSpPr/>
          <p:nvPr/>
        </p:nvSpPr>
        <p:spPr>
          <a:xfrm>
            <a:off x="420370" y="1659890"/>
            <a:ext cx="9787890" cy="5613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keynote_abstract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420130" y="295496"/>
            <a:ext cx="11467068" cy="528350"/>
          </a:xfrm>
        </p:spPr>
        <p:txBody>
          <a:bodyPr>
            <a:normAutofit/>
          </a:bodyPr>
          <a:lstStyle/>
          <a:p>
            <a:pPr algn="l">
              <a:buClrTx/>
              <a:buSzTx/>
            </a:pPr>
            <a:r>
              <a:rPr lang="en-US" altLang="zh-CN" sz="2400" b="1" dirty="0">
                <a:solidFill>
                  <a:srgbClr val="A72126"/>
                </a:solidFill>
              </a:rPr>
              <a:t>关键会议主题目录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07616" y="914400"/>
            <a:ext cx="11379581" cy="51308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topic_content_csv</a:t>
            </a:r>
          </a:p>
        </p:txBody>
      </p:sp>
      <p:sp>
        <p:nvSpPr>
          <p:cNvPr id="17" name="矩形 16"/>
          <p:cNvSpPr/>
          <p:nvPr/>
        </p:nvSpPr>
        <p:spPr>
          <a:xfrm>
            <a:off x="6095365" y="25400"/>
            <a:ext cx="119880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会议概览</a:t>
            </a:r>
          </a:p>
        </p:txBody>
      </p:sp>
      <p:sp>
        <p:nvSpPr>
          <p:cNvPr id="18" name="矩形 17"/>
          <p:cNvSpPr/>
          <p:nvPr/>
        </p:nvSpPr>
        <p:spPr>
          <a:xfrm>
            <a:off x="729297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Keynote分析</a:t>
            </a:r>
          </a:p>
        </p:txBody>
      </p:sp>
      <p:sp>
        <p:nvSpPr>
          <p:cNvPr id="19" name="矩形 18"/>
          <p:cNvSpPr/>
          <p:nvPr/>
        </p:nvSpPr>
        <p:spPr>
          <a:xfrm>
            <a:off x="8489315" y="25400"/>
            <a:ext cx="1197610" cy="216000"/>
          </a:xfrm>
          <a:prstGeom prst="rect">
            <a:avLst/>
          </a:prstGeom>
          <a:solidFill>
            <a:srgbClr val="A7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会议主题分析</a:t>
            </a:r>
          </a:p>
        </p:txBody>
      </p:sp>
      <p:sp>
        <p:nvSpPr>
          <p:cNvPr id="31" name="矩形 30"/>
          <p:cNvSpPr/>
          <p:nvPr/>
        </p:nvSpPr>
        <p:spPr>
          <a:xfrm>
            <a:off x="968184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优秀论文分析</a:t>
            </a:r>
          </a:p>
        </p:txBody>
      </p:sp>
      <p:sp>
        <p:nvSpPr>
          <p:cNvPr id="35" name="矩形 34"/>
          <p:cNvSpPr/>
          <p:nvPr/>
        </p:nvSpPr>
        <p:spPr>
          <a:xfrm>
            <a:off x="10881360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420130" y="295496"/>
            <a:ext cx="11467068" cy="528350"/>
          </a:xfrm>
        </p:spPr>
        <p:txBody>
          <a:bodyPr>
            <a:normAutofit/>
          </a:bodyPr>
          <a:lstStyle/>
          <a:p>
            <a:pPr algn="l">
              <a:buClrTx/>
              <a:buSzTx/>
            </a:pPr>
            <a:r>
              <a:rPr lang="en-US" altLang="zh-CN" sz="2400" b="1" dirty="0">
                <a:solidFill>
                  <a:srgbClr val="A72126"/>
                </a:solidFill>
              </a:rPr>
              <a:t>topic_title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Content Placeholder 2"/>
          <p:cNvSpPr txBox="1"/>
          <p:nvPr/>
        </p:nvSpPr>
        <p:spPr>
          <a:xfrm>
            <a:off x="409070" y="934424"/>
            <a:ext cx="4682694" cy="1972405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/>
          <a:lstStyle>
            <a:lvl1pPr marL="12065" indent="0" algn="l" defTabSz="1188085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16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52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25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7950" defTabSz="1188085" fontAlgn="auto">
              <a:lnSpc>
                <a:spcPct val="120000"/>
              </a:lnSpc>
              <a:tabLst>
                <a:tab pos="1208405" algn="ctr"/>
                <a:tab pos="1208405" algn="ctr"/>
              </a:tabLst>
            </a:pPr>
            <a:r>
              <a:rPr lang="en-US" sz="1400" b="1" dirty="0" err="1"/>
              <a:t>总览</a:t>
            </a:r>
            <a:r>
              <a:rPr lang="zh-CN" altLang="en-US" sz="1400" b="1" dirty="0"/>
              <a:t>：</a:t>
            </a:r>
            <a:endParaRPr lang="en-US" sz="1400" b="1" dirty="0"/>
          </a:p>
        </p:txBody>
      </p:sp>
      <p:sp>
        <p:nvSpPr>
          <p:cNvPr id="11" name="矩形 10"/>
          <p:cNvSpPr/>
          <p:nvPr/>
        </p:nvSpPr>
        <p:spPr>
          <a:xfrm>
            <a:off x="471805" y="1214755"/>
            <a:ext cx="4530725" cy="1617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topic_overview</a:t>
            </a:r>
          </a:p>
        </p:txBody>
      </p:sp>
      <p:sp>
        <p:nvSpPr>
          <p:cNvPr id="14" name="Content Placeholder 2"/>
          <p:cNvSpPr txBox="1"/>
          <p:nvPr/>
        </p:nvSpPr>
        <p:spPr>
          <a:xfrm>
            <a:off x="420130" y="3017407"/>
            <a:ext cx="4682694" cy="2447222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/>
          <a:lstStyle>
            <a:lvl1pPr marL="12065" indent="0" algn="l" defTabSz="1188085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16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52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25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7950" defTabSz="1188085" fontAlgn="auto">
              <a:lnSpc>
                <a:spcPct val="120000"/>
              </a:lnSpc>
              <a:tabLst>
                <a:tab pos="1208405" algn="ctr"/>
                <a:tab pos="1208405" algn="ctr"/>
              </a:tabLst>
            </a:pPr>
            <a:r>
              <a:rPr lang="en-US" sz="1400" b="1" dirty="0" err="1"/>
              <a:t>为何重要</a:t>
            </a:r>
            <a:r>
              <a:rPr lang="zh-CN" altLang="en-US" sz="1400" b="1" dirty="0"/>
              <a:t>：</a:t>
            </a:r>
            <a:endParaRPr lang="en-US" sz="1400" b="1" dirty="0"/>
          </a:p>
        </p:txBody>
      </p:sp>
      <p:sp>
        <p:nvSpPr>
          <p:cNvPr id="15" name="矩形 14"/>
          <p:cNvSpPr/>
          <p:nvPr/>
        </p:nvSpPr>
        <p:spPr>
          <a:xfrm>
            <a:off x="471805" y="3328035"/>
            <a:ext cx="4569460" cy="2064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topic_reason</a:t>
            </a:r>
          </a:p>
        </p:txBody>
      </p:sp>
      <p:sp>
        <p:nvSpPr>
          <p:cNvPr id="16" name="Content Placeholder 2"/>
          <p:cNvSpPr txBox="1"/>
          <p:nvPr/>
        </p:nvSpPr>
        <p:spPr>
          <a:xfrm>
            <a:off x="5342476" y="934423"/>
            <a:ext cx="6544722" cy="2655444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/>
          <a:lstStyle>
            <a:lvl1pPr marL="12065" indent="0" algn="l" defTabSz="1188085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16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52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25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7950" defTabSz="1188085" fontAlgn="auto">
              <a:lnSpc>
                <a:spcPct val="130000"/>
              </a:lnSpc>
              <a:tabLst>
                <a:tab pos="1208405" algn="ctr"/>
                <a:tab pos="1208405" algn="ctr"/>
              </a:tabLst>
            </a:pPr>
            <a:r>
              <a:rPr lang="zh-CN" altLang="en-US" sz="1400" b="1" dirty="0"/>
              <a:t>主要技术路径和创新点：</a:t>
            </a:r>
            <a:endParaRPr lang="en-US" sz="1400" b="1" dirty="0"/>
          </a:p>
        </p:txBody>
      </p:sp>
      <p:sp>
        <p:nvSpPr>
          <p:cNvPr id="35" name="矩形 34"/>
          <p:cNvSpPr/>
          <p:nvPr/>
        </p:nvSpPr>
        <p:spPr>
          <a:xfrm>
            <a:off x="5424170" y="1271905"/>
            <a:ext cx="6363970" cy="2243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topic_method_innovation</a:t>
            </a:r>
          </a:p>
        </p:txBody>
      </p:sp>
      <p:sp>
        <p:nvSpPr>
          <p:cNvPr id="36" name="Content Placeholder 2"/>
          <p:cNvSpPr txBox="1"/>
          <p:nvPr/>
        </p:nvSpPr>
        <p:spPr>
          <a:xfrm>
            <a:off x="5331416" y="3700444"/>
            <a:ext cx="6555782" cy="1764185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/>
          <a:lstStyle>
            <a:lvl1pPr marL="12065" indent="0" algn="l" defTabSz="1188085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16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52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25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7950" defTabSz="1188085" fontAlgn="auto">
              <a:lnSpc>
                <a:spcPct val="120000"/>
              </a:lnSpc>
              <a:tabLst>
                <a:tab pos="1208405" algn="ctr"/>
                <a:tab pos="1208405" algn="ctr"/>
              </a:tabLst>
            </a:pPr>
            <a:r>
              <a:rPr lang="zh-CN" altLang="en-US" sz="1400" b="1" dirty="0"/>
              <a:t>可借鉴技术和思想：</a:t>
            </a:r>
            <a:endParaRPr lang="en-US" sz="1400" b="1" dirty="0"/>
          </a:p>
        </p:txBody>
      </p:sp>
      <p:sp>
        <p:nvSpPr>
          <p:cNvPr id="37" name="矩形 36"/>
          <p:cNvSpPr/>
          <p:nvPr/>
        </p:nvSpPr>
        <p:spPr>
          <a:xfrm>
            <a:off x="5423924" y="3975144"/>
            <a:ext cx="6363768" cy="141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topic_inspiration</a:t>
            </a:r>
          </a:p>
        </p:txBody>
      </p:sp>
      <p:sp>
        <p:nvSpPr>
          <p:cNvPr id="12" name="矩形 11"/>
          <p:cNvSpPr/>
          <p:nvPr/>
        </p:nvSpPr>
        <p:spPr>
          <a:xfrm>
            <a:off x="405130" y="5648960"/>
            <a:ext cx="11481435" cy="664210"/>
          </a:xfrm>
          <a:prstGeom prst="rect">
            <a:avLst/>
          </a:prstGeom>
          <a:solidFill>
            <a:srgbClr val="7800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topic_summary</a:t>
            </a:r>
            <a:endParaRPr kumimoji="1" lang="en-US" altLang="zh-CN" sz="12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1" lang="en-US" altLang="zh-CN" sz="12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095365" y="25400"/>
            <a:ext cx="119880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会议概览</a:t>
            </a:r>
          </a:p>
        </p:txBody>
      </p:sp>
      <p:sp>
        <p:nvSpPr>
          <p:cNvPr id="21" name="矩形 20"/>
          <p:cNvSpPr/>
          <p:nvPr/>
        </p:nvSpPr>
        <p:spPr>
          <a:xfrm>
            <a:off x="729297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Keynote分析</a:t>
            </a:r>
          </a:p>
        </p:txBody>
      </p:sp>
      <p:sp>
        <p:nvSpPr>
          <p:cNvPr id="22" name="矩形 21"/>
          <p:cNvSpPr/>
          <p:nvPr/>
        </p:nvSpPr>
        <p:spPr>
          <a:xfrm>
            <a:off x="8489315" y="25400"/>
            <a:ext cx="1197610" cy="216000"/>
          </a:xfrm>
          <a:prstGeom prst="rect">
            <a:avLst/>
          </a:prstGeom>
          <a:solidFill>
            <a:srgbClr val="A7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会议主题分析</a:t>
            </a:r>
          </a:p>
        </p:txBody>
      </p:sp>
      <p:sp>
        <p:nvSpPr>
          <p:cNvPr id="23" name="矩形 22"/>
          <p:cNvSpPr/>
          <p:nvPr/>
        </p:nvSpPr>
        <p:spPr>
          <a:xfrm>
            <a:off x="968184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优秀论文分析</a:t>
            </a:r>
          </a:p>
        </p:txBody>
      </p:sp>
      <p:sp>
        <p:nvSpPr>
          <p:cNvPr id="24" name="矩形 23"/>
          <p:cNvSpPr/>
          <p:nvPr/>
        </p:nvSpPr>
        <p:spPr>
          <a:xfrm>
            <a:off x="10881360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420130" y="295496"/>
            <a:ext cx="11467068" cy="528350"/>
          </a:xfrm>
        </p:spPr>
        <p:txBody>
          <a:bodyPr>
            <a:normAutofit/>
          </a:bodyPr>
          <a:lstStyle/>
          <a:p>
            <a:pPr algn="l">
              <a:buClrTx/>
              <a:buSzTx/>
            </a:pPr>
            <a:r>
              <a:rPr lang="en-US" altLang="zh-CN" sz="2400" b="1" dirty="0">
                <a:solidFill>
                  <a:srgbClr val="A72126"/>
                </a:solidFill>
              </a:rPr>
              <a:t>paper_headline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Content Placeholder 2"/>
          <p:cNvSpPr txBox="1"/>
          <p:nvPr/>
        </p:nvSpPr>
        <p:spPr>
          <a:xfrm>
            <a:off x="249730" y="1027249"/>
            <a:ext cx="11759390" cy="1148375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/>
          <a:lstStyle>
            <a:lvl1pPr marL="12065" indent="0" algn="l" defTabSz="1188085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16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52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25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400" b="1" dirty="0"/>
              <a:t>研究背景</a:t>
            </a:r>
            <a:endParaRPr lang="en-US" sz="1400" b="1" dirty="0"/>
          </a:p>
        </p:txBody>
      </p:sp>
      <p:sp>
        <p:nvSpPr>
          <p:cNvPr id="11" name="矩形 10"/>
          <p:cNvSpPr/>
          <p:nvPr/>
        </p:nvSpPr>
        <p:spPr>
          <a:xfrm>
            <a:off x="336696" y="1305658"/>
            <a:ext cx="11610337" cy="782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paper_background</a:t>
            </a:r>
          </a:p>
        </p:txBody>
      </p:sp>
      <p:sp>
        <p:nvSpPr>
          <p:cNvPr id="36" name="Content Placeholder 2"/>
          <p:cNvSpPr txBox="1"/>
          <p:nvPr/>
        </p:nvSpPr>
        <p:spPr>
          <a:xfrm>
            <a:off x="249731" y="2327372"/>
            <a:ext cx="5053790" cy="356753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/>
          <a:lstStyle>
            <a:lvl1pPr marL="12065" indent="0" algn="l" defTabSz="1188085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16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52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25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400" b="1" dirty="0"/>
              <a:t>关键技术</a:t>
            </a:r>
            <a:endParaRPr lang="en-US" sz="1400" b="1" dirty="0"/>
          </a:p>
        </p:txBody>
      </p:sp>
      <p:sp>
        <p:nvSpPr>
          <p:cNvPr id="37" name="矩形 36"/>
          <p:cNvSpPr/>
          <p:nvPr/>
        </p:nvSpPr>
        <p:spPr>
          <a:xfrm>
            <a:off x="323850" y="2622550"/>
            <a:ext cx="4885055" cy="3198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paper_key_tech</a:t>
            </a:r>
          </a:p>
        </p:txBody>
      </p:sp>
      <p:sp>
        <p:nvSpPr>
          <p:cNvPr id="5" name="Content Placeholder 2"/>
          <p:cNvSpPr txBox="1"/>
          <p:nvPr/>
        </p:nvSpPr>
        <p:spPr>
          <a:xfrm>
            <a:off x="6955326" y="2327372"/>
            <a:ext cx="5053791" cy="356753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/>
          <a:lstStyle>
            <a:lvl1pPr marL="12065" indent="0" algn="l" defTabSz="1188085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16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52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25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sz="1400" b="1" dirty="0" err="1"/>
              <a:t>实验结果</a:t>
            </a:r>
            <a:endParaRPr lang="en-US" sz="1400" b="1" dirty="0"/>
          </a:p>
        </p:txBody>
      </p:sp>
      <p:sp>
        <p:nvSpPr>
          <p:cNvPr id="6" name="矩形 5"/>
          <p:cNvSpPr/>
          <p:nvPr/>
        </p:nvSpPr>
        <p:spPr>
          <a:xfrm>
            <a:off x="7018083" y="2624245"/>
            <a:ext cx="4979975" cy="319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paper_result</a:t>
            </a:r>
          </a:p>
        </p:txBody>
      </p:sp>
      <p:sp>
        <p:nvSpPr>
          <p:cNvPr id="9" name="矩形 8"/>
          <p:cNvSpPr/>
          <p:nvPr/>
        </p:nvSpPr>
        <p:spPr>
          <a:xfrm>
            <a:off x="5373802" y="2495164"/>
            <a:ext cx="1539761" cy="12881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exp_result_png</a:t>
            </a:r>
            <a:endParaRPr kumimoji="1" lang="zh-CN" altLang="en-US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373802" y="4423983"/>
            <a:ext cx="1540800" cy="119821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key_tech_png</a:t>
            </a:r>
            <a:endParaRPr kumimoji="1" lang="zh-CN" altLang="en-US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49730" y="700612"/>
            <a:ext cx="11759390" cy="24453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altLang="zh-CN" sz="1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paper_title</a:t>
            </a:r>
          </a:p>
        </p:txBody>
      </p:sp>
      <p:sp>
        <p:nvSpPr>
          <p:cNvPr id="23" name="矩形 22"/>
          <p:cNvSpPr/>
          <p:nvPr/>
        </p:nvSpPr>
        <p:spPr>
          <a:xfrm>
            <a:off x="231140" y="6026785"/>
            <a:ext cx="11779885" cy="617220"/>
          </a:xfrm>
          <a:prstGeom prst="rect">
            <a:avLst/>
          </a:prstGeom>
          <a:solidFill>
            <a:srgbClr val="7800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paper_summary</a:t>
            </a:r>
            <a:endParaRPr kumimoji="1" lang="en-US" altLang="zh-CN" sz="12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1" lang="en-US" altLang="zh-CN" sz="12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095365" y="25400"/>
            <a:ext cx="119880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会议概览</a:t>
            </a:r>
          </a:p>
        </p:txBody>
      </p:sp>
      <p:sp>
        <p:nvSpPr>
          <p:cNvPr id="4" name="矩形 3"/>
          <p:cNvSpPr/>
          <p:nvPr/>
        </p:nvSpPr>
        <p:spPr>
          <a:xfrm>
            <a:off x="729297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Keynote分析</a:t>
            </a:r>
          </a:p>
        </p:txBody>
      </p:sp>
      <p:sp>
        <p:nvSpPr>
          <p:cNvPr id="19" name="矩形 18"/>
          <p:cNvSpPr/>
          <p:nvPr/>
        </p:nvSpPr>
        <p:spPr>
          <a:xfrm>
            <a:off x="848931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会议主题分析</a:t>
            </a:r>
          </a:p>
        </p:txBody>
      </p:sp>
      <p:sp>
        <p:nvSpPr>
          <p:cNvPr id="31" name="矩形 30"/>
          <p:cNvSpPr/>
          <p:nvPr/>
        </p:nvSpPr>
        <p:spPr>
          <a:xfrm>
            <a:off x="9681845" y="25400"/>
            <a:ext cx="1197610" cy="216000"/>
          </a:xfrm>
          <a:prstGeom prst="rect">
            <a:avLst/>
          </a:prstGeom>
          <a:solidFill>
            <a:srgbClr val="A7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优秀论文分析</a:t>
            </a:r>
          </a:p>
        </p:txBody>
      </p:sp>
      <p:sp>
        <p:nvSpPr>
          <p:cNvPr id="16" name="矩形 15"/>
          <p:cNvSpPr/>
          <p:nvPr/>
        </p:nvSpPr>
        <p:spPr>
          <a:xfrm>
            <a:off x="10881360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sp>
        <p:nvSpPr>
          <p:cNvPr id="20" name="矩形 19"/>
          <p:cNvSpPr/>
          <p:nvPr/>
        </p:nvSpPr>
        <p:spPr>
          <a:xfrm>
            <a:off x="249555" y="25400"/>
            <a:ext cx="3240000" cy="216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tech_topic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420130" y="295496"/>
            <a:ext cx="11467068" cy="528350"/>
          </a:xfrm>
        </p:spPr>
        <p:txBody>
          <a:bodyPr>
            <a:normAutofit/>
          </a:bodyPr>
          <a:lstStyle/>
          <a:p>
            <a:pPr algn="l">
              <a:buClrTx/>
              <a:buSzTx/>
            </a:pPr>
            <a:r>
              <a:rPr lang="en-US" altLang="zh-CN" sz="2400" b="1" dirty="0">
                <a:solidFill>
                  <a:srgbClr val="A72126"/>
                </a:solidFill>
              </a:rPr>
              <a:t>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07365" y="914400"/>
            <a:ext cx="11379835" cy="38290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关键趋势</a:t>
            </a:r>
          </a:p>
        </p:txBody>
      </p:sp>
      <p:sp>
        <p:nvSpPr>
          <p:cNvPr id="4" name="矩形 3"/>
          <p:cNvSpPr/>
          <p:nvPr/>
        </p:nvSpPr>
        <p:spPr>
          <a:xfrm>
            <a:off x="705485" y="1373505"/>
            <a:ext cx="10983595" cy="332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key_trends</a:t>
            </a:r>
          </a:p>
        </p:txBody>
      </p:sp>
      <p:sp>
        <p:nvSpPr>
          <p:cNvPr id="17" name="矩形 16"/>
          <p:cNvSpPr/>
          <p:nvPr/>
        </p:nvSpPr>
        <p:spPr>
          <a:xfrm>
            <a:off x="6095365" y="25400"/>
            <a:ext cx="119880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会议概览</a:t>
            </a:r>
          </a:p>
        </p:txBody>
      </p:sp>
      <p:sp>
        <p:nvSpPr>
          <p:cNvPr id="18" name="矩形 17"/>
          <p:cNvSpPr/>
          <p:nvPr/>
        </p:nvSpPr>
        <p:spPr>
          <a:xfrm>
            <a:off x="729297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Keynote分析</a:t>
            </a:r>
          </a:p>
        </p:txBody>
      </p:sp>
      <p:sp>
        <p:nvSpPr>
          <p:cNvPr id="19" name="矩形 18"/>
          <p:cNvSpPr/>
          <p:nvPr/>
        </p:nvSpPr>
        <p:spPr>
          <a:xfrm>
            <a:off x="848931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会议主题分析</a:t>
            </a:r>
          </a:p>
        </p:txBody>
      </p:sp>
      <p:sp>
        <p:nvSpPr>
          <p:cNvPr id="31" name="矩形 30"/>
          <p:cNvSpPr/>
          <p:nvPr/>
        </p:nvSpPr>
        <p:spPr>
          <a:xfrm>
            <a:off x="9681845" y="25400"/>
            <a:ext cx="1197610" cy="216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优秀论文分析</a:t>
            </a:r>
          </a:p>
        </p:txBody>
      </p:sp>
      <p:sp>
        <p:nvSpPr>
          <p:cNvPr id="35" name="矩形 34"/>
          <p:cNvSpPr/>
          <p:nvPr/>
        </p:nvSpPr>
        <p:spPr>
          <a:xfrm>
            <a:off x="10881360" y="25400"/>
            <a:ext cx="1197610" cy="216000"/>
          </a:xfrm>
          <a:prstGeom prst="rect">
            <a:avLst/>
          </a:prstGeom>
          <a:solidFill>
            <a:srgbClr val="A7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MWC 19-PPT模板-白底 16比9</Template>
  <TotalTime>3</TotalTime>
  <Words>725</Words>
  <Application>Microsoft Office PowerPoint</Application>
  <PresentationFormat>自定义</PresentationFormat>
  <Paragraphs>195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微软雅黑</vt:lpstr>
      <vt:lpstr>Arial</vt:lpstr>
      <vt:lpstr>Calibri</vt:lpstr>
      <vt:lpstr>Wingdings</vt:lpstr>
      <vt:lpstr>1_Title Slide</vt:lpstr>
      <vt:lpstr>Chart page</vt:lpstr>
      <vt:lpstr>4_Chart page</vt:lpstr>
      <vt:lpstr>End page</vt:lpstr>
      <vt:lpstr>conference_name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AutoBVT</dc:creator>
  <cp:lastModifiedBy>ROBOT ICE</cp:lastModifiedBy>
  <cp:revision>250</cp:revision>
  <dcterms:created xsi:type="dcterms:W3CDTF">2025-11-24T03:47:00Z</dcterms:created>
  <dcterms:modified xsi:type="dcterms:W3CDTF">2026-01-15T07:21:43Z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(3)9K7MhttPmctKTlAepJVghc5jVCKqhwlg3WUynTcyZRlAqvXwyh4Oh5MUn/S1qsRekxYaSjf0
xAMb+XIVmiFW19LQ5rzY8SxUDMVg4vj7tzi0SPjrpQaZEh2i7Q63wUANwPymQ9KhvkOpupId
8g/WiPz/3mo9lw2+u0HERtEEQOFSNHxTfxkHcxU8CosEcorCYU1bf3Ron8rzicflycNnYO6T
HSqLQgGez4SDJnplgK</vt:lpwstr>
  </property>
  <property fmtid="{D5CDD505-2E9C-101B-9397-08002B2CF9AE}" pid="3" name="_2015_ms_pID_7253431">
    <vt:lpwstr>82SGjRTEfRs+Omq1PLLlyH6r/NUeGWJLUTXD4xX4AdBDIbA5M3xGE1
FJDhGJWv+ZwJEBjSUU7vQG7pD9Re+jwOMeH8KvtBR51uSvL8QqKWID096WZ7sSv/LL5pae3t
XPEALNuJBpV72sbxfdY4icFZGPfj4727kRAWuT9uG/4Al1hW+8FJdNQ/J9I8uxSoEyoyJ96g
hvAj6RniZYqx1mFTVrh3xskdX0KPyR3xTPNI</vt:lpwstr>
  </property>
  <property fmtid="{D5CDD505-2E9C-101B-9397-08002B2CF9AE}" pid="4" name="_2015_ms_pID_7253432">
    <vt:lpwstr>zr4dAB7xmHqg7+bcC24Pv9M=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1575429571</vt:lpwstr>
  </property>
  <property fmtid="{D5CDD505-2E9C-101B-9397-08002B2CF9AE}" pid="9" name="ICV">
    <vt:lpwstr>D6D8F13E24E1FA6567D52369EC799552_42</vt:lpwstr>
  </property>
  <property fmtid="{D5CDD505-2E9C-101B-9397-08002B2CF9AE}" pid="10" name="KSOProductBuildVer">
    <vt:lpwstr>2052-12.1.0.24034</vt:lpwstr>
  </property>
</Properties>
</file>