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3"/>
    <p:sldMasterId id="2147483655" r:id="rId4"/>
    <p:sldMasterId id="2147483657" r:id="rId5"/>
  </p:sldMasterIdLst>
  <p:notesMasterIdLst>
    <p:notesMasterId r:id="rId24"/>
  </p:notesMasterIdLst>
  <p:handoutMasterIdLst>
    <p:handoutMasterId r:id="rId25"/>
  </p:handoutMasterIdLst>
  <p:sldIdLst>
    <p:sldId id="283" r:id="rId6"/>
    <p:sldId id="282" r:id="rId7"/>
    <p:sldId id="281" r:id="rId8"/>
    <p:sldId id="286" r:id="rId9"/>
    <p:sldId id="297" r:id="rId10"/>
    <p:sldId id="298" r:id="rId11"/>
    <p:sldId id="299" r:id="rId12"/>
    <p:sldId id="300" r:id="rId13"/>
    <p:sldId id="301" r:id="rId14"/>
    <p:sldId id="302" r:id="rId15"/>
    <p:sldId id="303" r:id="rId16"/>
    <p:sldId id="291" r:id="rId17"/>
    <p:sldId id="292" r:id="rId18"/>
    <p:sldId id="293" r:id="rId19"/>
    <p:sldId id="294" r:id="rId20"/>
    <p:sldId id="295" r:id="rId21"/>
    <p:sldId id="285" r:id="rId22"/>
    <p:sldId id="280" r:id="rId23"/>
  </p:sldIdLst>
  <p:sldSz cx="1219644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6"/>
            <p14:sldId id="297"/>
            <p14:sldId id="298"/>
            <p14:sldId id="299"/>
            <p14:sldId id="300"/>
            <p14:sldId id="301"/>
            <p14:sldId id="302"/>
            <p14:sldId id="303"/>
            <p14:sldId id="291"/>
            <p14:sldId id="292"/>
            <p14:sldId id="293"/>
            <p14:sldId id="294"/>
            <p14:sldId id="295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682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6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000B"/>
    <a:srgbClr val="151515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607" autoAdjust="0"/>
    <p:restoredTop sz="96291"/>
  </p:normalViewPr>
  <p:slideViewPr>
    <p:cSldViewPr snapToGrid="0" snapToObjects="1" showGuides="1">
      <p:cViewPr>
        <p:scale>
          <a:sx n="92" d="100"/>
          <a:sy n="92" d="100"/>
        </p:scale>
        <p:origin x="128" y="1128"/>
      </p:cViewPr>
      <p:guideLst>
        <p:guide pos="3682"/>
        <p:guide orient="horz" pos="2159"/>
        <p:guide pos="356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slide" Target="slides/slide1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handoutMaster" Target="handoutMasters/handoutMaster1.xml"/><Relationship Id="rId24" Type="http://schemas.openxmlformats.org/officeDocument/2006/relationships/notesMaster" Target="notesMasters/notes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C5C5"/>
              </a:solidFill>
              <a:ln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solidFill>
                <a:srgbClr val="929292"/>
              </a:solidFill>
              <a:ln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ln>
                <a:noFill/>
              </a:ln>
              <a:effectLst/>
            </c:spPr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</c:dPt>
          <c:dPt>
            <c:idx val="4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</c:dPt>
          <c:dPt>
            <c:idx val="5"/>
            <c:invertIfNegative val="0"/>
            <c:bubble3D val="0"/>
            <c:spPr>
              <a:solidFill>
                <a:srgbClr val="FBA000"/>
              </a:solidFill>
              <a:ln>
                <a:noFill/>
              </a:ln>
              <a:effectLst/>
            </c:spPr>
          </c:dPt>
          <c:dLbls>
            <c:delete val="1"/>
          </c:dLbls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S. &amp; Cent.</c:v>
                </c:pt>
                <c:pt idx="2">
                  <c:v>Europe &amp;</c:v>
                </c:pt>
                <c:pt idx="3">
                  <c:v>Middle</c:v>
                </c:pt>
                <c:pt idx="4">
                  <c:v>Africa</c:v>
                </c:pt>
                <c:pt idx="5">
                  <c:v>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50</c:v>
                </c:pt>
                <c:pt idx="2">
                  <c:v>70</c:v>
                </c:pt>
                <c:pt idx="3">
                  <c:v>140</c:v>
                </c:pt>
                <c:pt idx="4">
                  <c:v>70</c:v>
                </c:pt>
                <c:pt idx="5">
                  <c:v>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"/>
        <c:overlap val="9"/>
        <c:axId val="360089552"/>
        <c:axId val="360084656"/>
      </c:barChart>
      <c:catAx>
        <c:axId val="3600895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1D1D1B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defRPr>
            </a:pPr>
          </a:p>
        </c:txPr>
        <c:crossAx val="360084656"/>
        <c:crosses val="autoZero"/>
        <c:auto val="1"/>
        <c:lblAlgn val="ctr"/>
        <c:lblOffset val="100"/>
        <c:noMultiLvlLbl val="0"/>
      </c:catAx>
      <c:valAx>
        <c:axId val="360084656"/>
        <c:scaling>
          <c:orientation val="minMax"/>
          <c:max val="160"/>
          <c:min val="0"/>
        </c:scaling>
        <c:delete val="0"/>
        <c:axPos val="l"/>
        <c:majorGridlines>
          <c:spPr>
            <a:ln w="9525" cap="flat" cmpd="sng" algn="ctr">
              <a:solidFill>
                <a:srgbClr val="C5C5C5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1D1D1B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defRPr>
            </a:pPr>
          </a:p>
        </c:txPr>
        <c:crossAx val="360089552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80394da1-6465-4501-9acc-ac7cd09753d2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>
            <a:fillRect/>
          </a:stretch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>
            <a:fillRect/>
          </a:stretch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/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5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  <a:endParaRPr kumimoji="1" lang="zh-CN" altLang="en-US" sz="3635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  <a:endParaRPr lang="en-US" sz="494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image" Target="../media/image5.png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/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90204" pitchFamily="34" charset="0"/>
          <a:ea typeface="微软雅黑" panose="020B0503020204020204" pitchFamily="34" charset="-122"/>
          <a:cs typeface="Arial" panose="020B060402020209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5" b="0" baseline="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Confidential</a:t>
            </a:r>
            <a:endParaRPr lang="en-US" sz="975" b="0" baseline="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75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</a:fld>
            <a:endParaRPr lang="en-US" sz="975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/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186C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200/16/46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5" name="矩形 9"/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185C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199/0/11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6" name="文本框 31"/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品牌色</a:t>
                </a:r>
                <a:endParaRPr kumimoji="1" lang="zh-CN" altLang="en-US" sz="10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/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234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90/79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29" name="矩形 13"/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120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0/15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0" name="文本框 15"/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辅助色</a:t>
                </a:r>
                <a:endParaRPr kumimoji="1" lang="zh-CN" altLang="en-US" sz="10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1" name="矩形 16"/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248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181/60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2" name="矩形 17"/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235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92/1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3" name="矩形 18"/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137/137/137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4" name="矩形 19"/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35/24/21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5" name="矩形 22"/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221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221/221</a:t>
                </a:r>
                <a:endParaRPr kumimoji="1" lang="en-US" altLang="zh-CN" sz="700" b="1" dirty="0">
                  <a:solidFill>
                    <a:schemeClr val="bg1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6" name="矩形 12"/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233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140/128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7" name="矩形 13"/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159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0/1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8" name="矩形 16"/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245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220/87</a:t>
                </a:r>
                <a:endParaRPr kumimoji="1" lang="en-US" altLang="zh-CN" sz="700" b="1" dirty="0">
                  <a:solidFill>
                    <a:schemeClr val="bg1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9" name="矩形 17"/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240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133/0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0" name="矩形 18"/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181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181/181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2" name="矩形 19"/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89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87/87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3" name="矩形 22"/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255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255/255</a:t>
                </a:r>
                <a:endParaRPr kumimoji="1" lang="en-US" altLang="zh-CN" sz="700" b="1" dirty="0">
                  <a:solidFill>
                    <a:schemeClr val="bg1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Copyright©2021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may change the information at any time without notice. </a:t>
            </a:r>
            <a:endParaRPr kumimoji="1" lang="en-US" altLang="zh-CN" sz="850" baseline="0" dirty="0">
              <a:solidFill>
                <a:srgbClr val="1D1D1B"/>
              </a:solidFill>
              <a:latin typeface="+mn-lt"/>
              <a:cs typeface="Arial" panose="020B0604020202090204" pitchFamily="34" charset="0"/>
            </a:endParaRP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  <a:endParaRPr kumimoji="1" lang="zh-CN" altLang="en-US" sz="1300" dirty="0">
              <a:solidFill>
                <a:srgbClr val="1D1D1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90204" pitchFamily="34" charset="0"/>
          <a:ea typeface="微软雅黑" panose="020B0503020204020204" pitchFamily="34" charset="-122"/>
          <a:cs typeface="Arial" panose="020B060402020209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chart" Target="../charts/char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err="1"/>
              <a:t>conference_name</a:t>
            </a:r>
            <a:endParaRPr lang="zh-CN" altLang="en-US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898996" y="4468454"/>
            <a:ext cx="6535842" cy="643926"/>
          </a:xfrm>
        </p:spPr>
        <p:txBody>
          <a:bodyPr/>
          <a:lstStyle/>
          <a:p>
            <a:r>
              <a:rPr lang="zh-CN" altLang="en-US" sz="2000" b="1" dirty="0">
                <a:latin typeface="+mj-ea"/>
                <a:ea typeface="+mj-ea"/>
              </a:rPr>
              <a:t>作者：</a:t>
            </a:r>
            <a:r>
              <a:rPr lang="en-US" altLang="zh-CN" sz="2000" b="1" dirty="0" err="1">
                <a:solidFill>
                  <a:srgbClr val="FF0000"/>
                </a:solidFill>
                <a:latin typeface="+mj-ea"/>
                <a:ea typeface="+mj-ea"/>
              </a:rPr>
              <a:t>Deepinsight</a:t>
            </a:r>
            <a:r>
              <a:rPr lang="zh-CN" altLang="en-US" sz="2000" b="1" dirty="0">
                <a:solidFill>
                  <a:srgbClr val="FF0000"/>
                </a:solidFill>
                <a:latin typeface="+mj-ea"/>
                <a:ea typeface="+mj-ea"/>
              </a:rPr>
              <a:t>顶会助手</a:t>
            </a:r>
            <a:endParaRPr lang="en-US" altLang="zh-CN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r>
              <a:rPr lang="zh-CN" altLang="en-US" sz="2000" b="1" dirty="0">
                <a:latin typeface="+mj-ea"/>
                <a:ea typeface="+mj-ea"/>
              </a:rPr>
              <a:t>日期：</a:t>
            </a:r>
            <a:endParaRPr lang="en-US" sz="2000" b="1" dirty="0">
              <a:latin typeface="+mj-ea"/>
              <a:ea typeface="+mj-ea"/>
            </a:endParaRPr>
          </a:p>
        </p:txBody>
      </p:sp>
      <p:sp>
        <p:nvSpPr>
          <p:cNvPr id="4" name="Text Placeholder 3"/>
          <p:cNvSpPr txBox="1"/>
          <p:nvPr/>
        </p:nvSpPr>
        <p:spPr>
          <a:xfrm>
            <a:off x="948808" y="6264112"/>
            <a:ext cx="2606870" cy="13669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sz="1000" dirty="0"/>
          </a:p>
        </p:txBody>
      </p:sp>
      <p:sp>
        <p:nvSpPr>
          <p:cNvPr id="2" name="标题 2"/>
          <p:cNvSpPr txBox="1"/>
          <p:nvPr/>
        </p:nvSpPr>
        <p:spPr>
          <a:xfrm>
            <a:off x="887012" y="1597347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 defTabSz="914400" rtl="0" eaLnBrk="1" latinLnBrk="0" hangingPunct="1">
              <a:lnSpc>
                <a:spcPts val="3440"/>
              </a:lnSpc>
              <a:spcBef>
                <a:spcPct val="0"/>
              </a:spcBef>
              <a:buNone/>
              <a:defRPr sz="32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b="1" dirty="0">
                <a:solidFill>
                  <a:srgbClr val="FF0000"/>
                </a:solidFill>
              </a:rPr>
              <a:t>洞察报告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" name="Text Placeholder 7"/>
          <p:cNvSpPr txBox="1"/>
          <p:nvPr/>
        </p:nvSpPr>
        <p:spPr>
          <a:xfrm>
            <a:off x="1666538" y="4790417"/>
            <a:ext cx="2523077" cy="3219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400" kern="12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90204" pitchFamily="34" charset="0"/>
                <a:ea typeface="+mn-ea"/>
                <a:cs typeface="Arial" panose="020B060402020209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1" dirty="0">
                <a:latin typeface="+mj-ea"/>
                <a:ea typeface="+mj-ea"/>
              </a:rPr>
              <a:t>date</a:t>
            </a:r>
            <a:endParaRPr lang="en-US" sz="2000" b="1" dirty="0">
              <a:latin typeface="+mj-ea"/>
              <a:ea typeface="+mj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1033620" y="1843088"/>
            <a:ext cx="10045712" cy="3013725"/>
          </a:xfrm>
        </p:spPr>
        <p:txBody>
          <a:bodyPr/>
          <a:lstStyle/>
          <a:p>
            <a:r>
              <a:rPr lang="en-US" b="1" dirty="0" err="1">
                <a:solidFill>
                  <a:schemeClr val="tx1"/>
                </a:solidFill>
              </a:rPr>
              <a:t>会议概览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 err="1"/>
              <a:t>Keynote分析</a:t>
            </a:r>
            <a:endParaRPr lang="en-US" b="1" dirty="0"/>
          </a:p>
          <a:p>
            <a:r>
              <a:rPr lang="en-US" b="1" dirty="0" err="1">
                <a:solidFill>
                  <a:schemeClr val="tx1"/>
                </a:solidFill>
              </a:rPr>
              <a:t>会议主题分析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 err="1"/>
              <a:t>优秀论文分析</a:t>
            </a:r>
            <a:endParaRPr lang="en-US" b="1" dirty="0"/>
          </a:p>
          <a:p>
            <a:r>
              <a:rPr lang="en-US" b="1" dirty="0" err="1">
                <a:solidFill>
                  <a:schemeClr val="tx1"/>
                </a:solidFill>
              </a:rPr>
              <a:t>总结</a:t>
            </a:r>
            <a:endParaRPr lang="en-US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 err="1">
                <a:solidFill>
                  <a:srgbClr val="FF0000"/>
                </a:solidFill>
              </a:rPr>
              <a:t>会议概览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20130" y="781220"/>
            <a:ext cx="11467069" cy="2327127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US" sz="1400" b="1" dirty="0" err="1">
                <a:solidFill>
                  <a:schemeClr val="tx1"/>
                </a:solidFill>
              </a:rPr>
              <a:t>基础信息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07617" y="118220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会议时间</a:t>
            </a:r>
            <a:r>
              <a:rPr kumimoji="1"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635510" y="1182205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conf_date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507617" y="1561863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会议时间</a:t>
            </a:r>
            <a:r>
              <a:rPr kumimoji="1"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635509" y="1561862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conf_loc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507617" y="1897467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会议级别</a:t>
            </a:r>
            <a:r>
              <a:rPr kumimoji="1"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1635509" y="1897466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organizer_level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507617" y="2245969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会议主题</a:t>
            </a:r>
            <a:r>
              <a:rPr kumimoji="1"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635509" y="2245968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conf_topics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507617" y="2625627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投稿论文</a:t>
            </a:r>
            <a:r>
              <a:rPr kumimoji="1"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635509" y="2625626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submit_papers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5845122" y="1235903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会议主席</a:t>
            </a:r>
            <a:r>
              <a:rPr kumimoji="1"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6973015" y="1235902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conf_chair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5845122" y="163014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会议委员</a:t>
            </a:r>
            <a:r>
              <a:rPr kumimoji="1"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973015" y="1630145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conf_committee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845122" y="2116649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赞助商</a:t>
            </a:r>
            <a:r>
              <a:rPr kumimoji="1"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6973015" y="2116648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conf_sponsor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845122" y="2603151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kumimoji="1"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主要机构</a:t>
            </a:r>
            <a:r>
              <a:rPr kumimoji="1"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973015" y="2603150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conf_institution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420130" y="3237829"/>
            <a:ext cx="11467068" cy="307153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dirty="0" err="1"/>
              <a:t>扩展信息</a:t>
            </a:r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507617" y="4442791"/>
            <a:ext cx="11269016" cy="18665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total_trend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6469530" y="-4333"/>
            <a:ext cx="1048144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517673" y="-182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7617" y="3517768"/>
            <a:ext cx="11269016" cy="83557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conf_info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 err="1">
                <a:solidFill>
                  <a:srgbClr val="FF0000"/>
                </a:solidFill>
              </a:rPr>
              <a:t>技术主题分析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8" y="975361"/>
            <a:ext cx="5880835" cy="49775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584893" y="1409516"/>
            <a:ext cx="5075498" cy="37062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tech_field_png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6098381" y="1051033"/>
            <a:ext cx="5691947" cy="483160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key_tech_intro</a:t>
            </a:r>
            <a:endParaRPr kumimoji="1"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469530" y="-4333"/>
            <a:ext cx="1048144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7517673" y="-182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64847" y="6036668"/>
            <a:ext cx="11467068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02303" y="6036668"/>
            <a:ext cx="10846437" cy="5897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key_tech_summary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20130" y="5639859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说明：主题内容来源于会议官网，从论文录用、会议议程、征稿信息三者中按顺序选取之一</a:t>
            </a:r>
            <a:endParaRPr kumimoji="1"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研究热点分析</a:t>
            </a:r>
            <a:r>
              <a:rPr lang="en-US" altLang="zh-CN" sz="2400" b="1" dirty="0">
                <a:solidFill>
                  <a:srgbClr val="FF0000"/>
                </a:solidFill>
              </a:rPr>
              <a:t>-1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8" y="975362"/>
            <a:ext cx="5880835" cy="466306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381" y="1051034"/>
            <a:ext cx="5691947" cy="38851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/>
              <a:t>keyword_intro</a:t>
            </a:r>
            <a:endParaRPr lang="en-GB" altLang="zh-CN" dirty="0"/>
          </a:p>
        </p:txBody>
      </p:sp>
      <p:sp>
        <p:nvSpPr>
          <p:cNvPr id="3" name="矩形 2"/>
          <p:cNvSpPr/>
          <p:nvPr/>
        </p:nvSpPr>
        <p:spPr>
          <a:xfrm>
            <a:off x="6469530" y="-4333"/>
            <a:ext cx="1048144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7517673" y="-182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06435" y="6032170"/>
            <a:ext cx="11467068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43891" y="6032170"/>
            <a:ext cx="10846437" cy="5897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5845122" y="5638431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说明：关键词来自会议论文 </a:t>
            </a:r>
            <a:r>
              <a:rPr kumimoji="1" lang="en-GB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keyword</a:t>
            </a:r>
            <a:r>
              <a:rPr kumimoji="1" lang="zh-CN" altLang="en-GB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kumimoji="1"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或基于论文摘要解析（当缺少 </a:t>
            </a:r>
            <a:r>
              <a:rPr kumimoji="1" lang="en-GB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keyword </a:t>
            </a:r>
            <a:r>
              <a:rPr kumimoji="1"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时）</a:t>
            </a:r>
            <a:endParaRPr kumimoji="1"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15895" y="969399"/>
            <a:ext cx="1630344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关键词分布：</a:t>
            </a:r>
            <a:endParaRPr kumimoji="1"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15895" y="1389663"/>
            <a:ext cx="2853255" cy="135534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keyword_cloud_png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19521" y="2718877"/>
            <a:ext cx="2492036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关键词组合分析：</a:t>
            </a:r>
            <a:endParaRPr kumimoji="1"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515895" y="3186740"/>
            <a:ext cx="4960566" cy="24251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keyword_couple_analysis_png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</a:rPr>
              <a:t>研究热点分析-2</a:t>
            </a:r>
            <a:endParaRPr lang="en-US" altLang="zh-CN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8120743" y="975361"/>
            <a:ext cx="3752760" cy="483160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522512" y="975361"/>
            <a:ext cx="7206755" cy="48337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keyword_topic_csv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8196943" y="1051033"/>
            <a:ext cx="3593385" cy="46863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keyword_topic_intro</a:t>
            </a:r>
            <a:endParaRPr kumimoji="1"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469530" y="-4333"/>
            <a:ext cx="1048144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7517673" y="-182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06435" y="6071211"/>
            <a:ext cx="11467068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43891" y="6071211"/>
            <a:ext cx="10846437" cy="5897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keyword_topic_summary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 err="1">
                <a:solidFill>
                  <a:srgbClr val="FF0000"/>
                </a:solidFill>
              </a:rPr>
              <a:t>国家</a:t>
            </a:r>
            <a:r>
              <a:rPr lang="en-US" altLang="zh-CN" sz="2400" b="1" dirty="0">
                <a:solidFill>
                  <a:srgbClr val="FF0000"/>
                </a:solidFill>
              </a:rPr>
              <a:t>/</a:t>
            </a:r>
            <a:r>
              <a:rPr lang="zh-CN" altLang="en-US" sz="2400" b="1" dirty="0">
                <a:solidFill>
                  <a:srgbClr val="FF0000"/>
                </a:solidFill>
              </a:rPr>
              <a:t>地区技术特征分析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8" y="975362"/>
            <a:ext cx="5880835" cy="46174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381" y="1051034"/>
            <a:ext cx="5691947" cy="38851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/>
              <a:t>country_tech_intro</a:t>
            </a:r>
            <a:endParaRPr lang="en-GB" altLang="zh-CN" dirty="0"/>
          </a:p>
        </p:txBody>
      </p:sp>
      <p:sp>
        <p:nvSpPr>
          <p:cNvPr id="3" name="矩形 2"/>
          <p:cNvSpPr/>
          <p:nvPr/>
        </p:nvSpPr>
        <p:spPr>
          <a:xfrm>
            <a:off x="6469530" y="-4333"/>
            <a:ext cx="1048144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7517673" y="-182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20130" y="6013107"/>
            <a:ext cx="11467068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57586" y="6013107"/>
            <a:ext cx="10846437" cy="5897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5983508" y="5650447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说明：技术优势占比指国家在该主题论文占该主题所有论文的比例，超过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视为优势技术。</a:t>
            </a:r>
            <a:endParaRPr kumimoji="1"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15895" y="969399"/>
            <a:ext cx="2936222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TopN</a:t>
            </a:r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国家</a:t>
            </a:r>
            <a:r>
              <a:rPr kumimoji="1"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地区排名：</a:t>
            </a:r>
            <a:endParaRPr kumimoji="1"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15895" y="1244110"/>
            <a:ext cx="2853255" cy="150089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country_tech_top_png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19520" y="2718877"/>
            <a:ext cx="2849629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国家</a:t>
            </a:r>
            <a:r>
              <a:rPr kumimoji="1"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地区技术优势矩阵：</a:t>
            </a:r>
            <a:endParaRPr kumimoji="1"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515894" y="2993588"/>
            <a:ext cx="5329227" cy="2599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country_tech_strength_csv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机构技术特征分析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9" y="975361"/>
            <a:ext cx="5797660" cy="483160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381" y="1051033"/>
            <a:ext cx="5691947" cy="461770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/>
              <a:t>institution_tech_feat_intro</a:t>
            </a:r>
            <a:endParaRPr lang="en-GB" altLang="zh-CN" dirty="0"/>
          </a:p>
        </p:txBody>
      </p:sp>
      <p:sp>
        <p:nvSpPr>
          <p:cNvPr id="3" name="矩形 2"/>
          <p:cNvSpPr/>
          <p:nvPr/>
        </p:nvSpPr>
        <p:spPr>
          <a:xfrm>
            <a:off x="6469530" y="-4333"/>
            <a:ext cx="1048144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7517673" y="-182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06435" y="6034154"/>
            <a:ext cx="11467068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43891" y="6034154"/>
            <a:ext cx="10846437" cy="5897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institution_tech_feat_summary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15895" y="969399"/>
            <a:ext cx="2936222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TopN</a:t>
            </a:r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机构排名：</a:t>
            </a:r>
            <a:endParaRPr kumimoji="1"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15896" y="1244110"/>
            <a:ext cx="2849384" cy="17181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>
                <a:solidFill>
                  <a:srgbClr val="FF0000"/>
                </a:solidFill>
              </a:rPr>
              <a:t>top_institution_png</a:t>
            </a:r>
            <a:endParaRPr lang="en-GB" altLang="zh-CN" dirty="0">
              <a:solidFill>
                <a:srgbClr val="FF0000"/>
              </a:solidFill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15650" y="3087576"/>
            <a:ext cx="2849629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产学研类型占比分析：</a:t>
            </a:r>
            <a:endParaRPr kumimoji="1"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515894" y="3382518"/>
            <a:ext cx="4836035" cy="24244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compony_school_analysis_png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机构技术优势分析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9" y="975362"/>
            <a:ext cx="5797660" cy="452004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381" y="1051034"/>
            <a:ext cx="5691947" cy="399575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/>
              <a:t>institution_tech_strength_intro</a:t>
            </a:r>
            <a:endParaRPr lang="en-GB" altLang="zh-CN" dirty="0"/>
          </a:p>
        </p:txBody>
      </p:sp>
      <p:sp>
        <p:nvSpPr>
          <p:cNvPr id="3" name="矩形 2"/>
          <p:cNvSpPr/>
          <p:nvPr/>
        </p:nvSpPr>
        <p:spPr>
          <a:xfrm>
            <a:off x="6469530" y="-4333"/>
            <a:ext cx="1048144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7517673" y="-182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20130" y="6030598"/>
            <a:ext cx="11467068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57586" y="6030598"/>
            <a:ext cx="10846437" cy="5897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institution_tech_strength_summary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7654" y="975424"/>
            <a:ext cx="427996" cy="17181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高校技术优势局者</a:t>
            </a:r>
            <a:endParaRPr kumimoji="1"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15894" y="864307"/>
            <a:ext cx="5144497" cy="20451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>
                <a:solidFill>
                  <a:srgbClr val="FF0000"/>
                </a:solidFill>
              </a:rPr>
              <a:t>university_tech_strength_csv</a:t>
            </a:r>
            <a:endParaRPr lang="en-GB" altLang="zh-CN" dirty="0">
              <a:solidFill>
                <a:srgbClr val="FF0000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515894" y="3223491"/>
            <a:ext cx="5144497" cy="22719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compony_school_analysis_png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7654" y="3422831"/>
            <a:ext cx="427996" cy="17181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企业技术优势局者</a:t>
            </a:r>
            <a:endParaRPr kumimoji="1"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5845122" y="5650447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说明：技术优势占比指机构在该主题论文占该主题所有论文的比例，超过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视为优势技术。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跨机构合作网络分析</a:t>
            </a:r>
            <a:endParaRPr lang="en-US" altLang="zh-CN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1225" y="975362"/>
            <a:ext cx="5882278" cy="457451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943891" y="1289010"/>
            <a:ext cx="4576762" cy="39472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institution_cooperation_png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6098381" y="1051033"/>
            <a:ext cx="5691947" cy="442689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institution_cooperation_intro</a:t>
            </a:r>
            <a:endParaRPr kumimoji="1"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469530" y="-4333"/>
            <a:ext cx="1048144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7517673" y="-182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20130" y="6015038"/>
            <a:ext cx="11467068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57586" y="6015038"/>
            <a:ext cx="10846437" cy="5897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institution_cooperation_summary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高潜技术转化分析</a:t>
            </a:r>
            <a:endParaRPr lang="en-US" altLang="zh-CN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6893169" y="975362"/>
            <a:ext cx="4980333" cy="455019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522512" y="975361"/>
            <a:ext cx="6236097" cy="5045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high_potential_csv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7023652" y="1051034"/>
            <a:ext cx="4766676" cy="390280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high_potential_intro</a:t>
            </a:r>
            <a:endParaRPr kumimoji="1"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469530" y="-4333"/>
            <a:ext cx="1048144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7517673" y="-182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06434" y="6060752"/>
            <a:ext cx="11467068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43890" y="6060752"/>
            <a:ext cx="10846437" cy="5897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high_potential_summary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872062" y="5590010"/>
            <a:ext cx="5001440" cy="4306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说明：论文根据获奖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(+0.3)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、企业参与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(+0.3)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、落地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开源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(+0.2)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、社区热议高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低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(+0.2/0.1/0)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lang="en-GB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Session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重点</a:t>
            </a:r>
            <a:r>
              <a:rPr lang="en-US" altLang="zh-CN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(+0.1)</a:t>
            </a:r>
            <a:r>
              <a:rPr lang="zh-CN" altLang="en-US" sz="1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进行加权评分以确定高潜论文。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 err="1">
                <a:solidFill>
                  <a:srgbClr val="FF0000"/>
                </a:solidFill>
              </a:rPr>
              <a:t>keynote_title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1603874" y="876300"/>
            <a:ext cx="7058864" cy="25929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speaker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420131" y="876300"/>
            <a:ext cx="1047520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演讲嘉宾：</a:t>
            </a:r>
            <a:endParaRPr kumimoji="1"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20130" y="1297267"/>
            <a:ext cx="2923961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主要内容和思想：</a:t>
            </a:r>
            <a:endParaRPr kumimoji="1"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420130" y="1588587"/>
            <a:ext cx="8242608" cy="56147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keynote_abstract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20130" y="2276316"/>
            <a:ext cx="8242608" cy="78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4069713" y="2150058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Why</a:t>
            </a:r>
            <a:endParaRPr kumimoji="1"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592394" y="2398727"/>
            <a:ext cx="7886589" cy="5399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keynote_background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20128" y="3184790"/>
            <a:ext cx="11453375" cy="78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4069713" y="3058532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What</a:t>
            </a:r>
            <a:endParaRPr kumimoji="1"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92394" y="3307201"/>
            <a:ext cx="11184240" cy="5399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keynote_objective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20129" y="4089941"/>
            <a:ext cx="11453374" cy="78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矩形 25"/>
          <p:cNvSpPr/>
          <p:nvPr/>
        </p:nvSpPr>
        <p:spPr>
          <a:xfrm>
            <a:off x="4069713" y="3963683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How</a:t>
            </a:r>
            <a:endParaRPr kumimoji="1"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92394" y="4212352"/>
            <a:ext cx="11184240" cy="5399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keynote_method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20130" y="4932994"/>
            <a:ext cx="2923961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业务启发：</a:t>
            </a:r>
            <a:endParaRPr kumimoji="1"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14384" y="5181663"/>
            <a:ext cx="11453374" cy="7146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keynote_inspiration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8947096" y="992213"/>
            <a:ext cx="2920662" cy="20657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keynote_picture</a:t>
            </a:r>
            <a:endParaRPr kumimoji="1" lang="zh-CN" altLang="en-US" sz="12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7517672" y="-6846"/>
            <a:ext cx="1169773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367109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687446" y="-4333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0130" y="6016204"/>
            <a:ext cx="11467068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957586" y="6016204"/>
            <a:ext cx="10846437" cy="5897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关键会议主题目录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7616" y="914400"/>
            <a:ext cx="11379581" cy="51308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topic_content_csv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687444" y="-6846"/>
            <a:ext cx="1169773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6367109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536882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 err="1">
                <a:solidFill>
                  <a:srgbClr val="FF0000"/>
                </a:solidFill>
              </a:rPr>
              <a:t>topic_title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Content Placeholder 2"/>
          <p:cNvSpPr txBox="1"/>
          <p:nvPr/>
        </p:nvSpPr>
        <p:spPr>
          <a:xfrm>
            <a:off x="409070" y="934424"/>
            <a:ext cx="4682694" cy="197240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总览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11" name="矩形 10"/>
          <p:cNvSpPr/>
          <p:nvPr/>
        </p:nvSpPr>
        <p:spPr>
          <a:xfrm>
            <a:off x="471790" y="1119342"/>
            <a:ext cx="4530515" cy="171350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topic_overview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Content Placeholder 2"/>
          <p:cNvSpPr txBox="1"/>
          <p:nvPr/>
        </p:nvSpPr>
        <p:spPr>
          <a:xfrm>
            <a:off x="420130" y="3017407"/>
            <a:ext cx="4682694" cy="244722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为何重要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15" name="矩形 14"/>
          <p:cNvSpPr/>
          <p:nvPr/>
        </p:nvSpPr>
        <p:spPr>
          <a:xfrm>
            <a:off x="471791" y="3254815"/>
            <a:ext cx="4569714" cy="21372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topic_reason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ntent Placeholder 2"/>
          <p:cNvSpPr txBox="1"/>
          <p:nvPr/>
        </p:nvSpPr>
        <p:spPr>
          <a:xfrm>
            <a:off x="5342476" y="934423"/>
            <a:ext cx="6544722" cy="265544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主要技术路径和创新点：</a:t>
            </a:r>
            <a:endParaRPr lang="en-US" sz="1400" b="1" dirty="0"/>
          </a:p>
        </p:txBody>
      </p:sp>
      <p:sp>
        <p:nvSpPr>
          <p:cNvPr id="35" name="矩形 34"/>
          <p:cNvSpPr/>
          <p:nvPr/>
        </p:nvSpPr>
        <p:spPr>
          <a:xfrm>
            <a:off x="5423923" y="1209123"/>
            <a:ext cx="6363769" cy="23062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topic_method_innovation</a:t>
            </a:r>
            <a:endParaRPr kumimoji="1"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Content Placeholder 2"/>
          <p:cNvSpPr txBox="1"/>
          <p:nvPr/>
        </p:nvSpPr>
        <p:spPr>
          <a:xfrm>
            <a:off x="5331416" y="3700444"/>
            <a:ext cx="6555782" cy="1764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可借鉴技术和思想：</a:t>
            </a:r>
            <a:endParaRPr lang="en-US" sz="1400" b="1" dirty="0"/>
          </a:p>
        </p:txBody>
      </p:sp>
      <p:sp>
        <p:nvSpPr>
          <p:cNvPr id="37" name="矩形 36"/>
          <p:cNvSpPr/>
          <p:nvPr/>
        </p:nvSpPr>
        <p:spPr>
          <a:xfrm>
            <a:off x="5423924" y="3975144"/>
            <a:ext cx="6363768" cy="14169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topic_inspiration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687444" y="-6846"/>
            <a:ext cx="1169773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6367109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536882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857218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20130" y="5575206"/>
            <a:ext cx="11467068" cy="81681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957586" y="5648878"/>
            <a:ext cx="10846437" cy="6643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 err="1">
                <a:solidFill>
                  <a:srgbClr val="FF0000"/>
                </a:solidFill>
              </a:rPr>
              <a:t>paper_headline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Content Placeholder 2"/>
          <p:cNvSpPr txBox="1"/>
          <p:nvPr/>
        </p:nvSpPr>
        <p:spPr>
          <a:xfrm>
            <a:off x="249730" y="1027249"/>
            <a:ext cx="11759390" cy="1148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400" b="1" dirty="0"/>
              <a:t>研究背景</a:t>
            </a:r>
            <a:endParaRPr lang="en-US" sz="1400" b="1" dirty="0"/>
          </a:p>
        </p:txBody>
      </p:sp>
      <p:sp>
        <p:nvSpPr>
          <p:cNvPr id="11" name="矩形 10"/>
          <p:cNvSpPr/>
          <p:nvPr/>
        </p:nvSpPr>
        <p:spPr>
          <a:xfrm>
            <a:off x="336696" y="1235808"/>
            <a:ext cx="11610337" cy="78240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paper_background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Content Placeholder 2"/>
          <p:cNvSpPr txBox="1"/>
          <p:nvPr/>
        </p:nvSpPr>
        <p:spPr>
          <a:xfrm>
            <a:off x="249731" y="2327372"/>
            <a:ext cx="5053790" cy="356753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400" b="1" dirty="0"/>
              <a:t>关键技术</a:t>
            </a:r>
            <a:endParaRPr lang="en-US" sz="1400" b="1" dirty="0"/>
          </a:p>
        </p:txBody>
      </p:sp>
      <p:sp>
        <p:nvSpPr>
          <p:cNvPr id="37" name="矩形 36"/>
          <p:cNvSpPr/>
          <p:nvPr/>
        </p:nvSpPr>
        <p:spPr>
          <a:xfrm>
            <a:off x="323547" y="2569925"/>
            <a:ext cx="4885355" cy="32608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paper_key_tech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Content Placeholder 2"/>
          <p:cNvSpPr txBox="1"/>
          <p:nvPr/>
        </p:nvSpPr>
        <p:spPr>
          <a:xfrm>
            <a:off x="6955326" y="2327372"/>
            <a:ext cx="5053791" cy="356753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9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dirty="0" err="1"/>
              <a:t>实验结果</a:t>
            </a:r>
            <a:endParaRPr lang="en-US" sz="1400" b="1" dirty="0"/>
          </a:p>
        </p:txBody>
      </p:sp>
      <p:sp>
        <p:nvSpPr>
          <p:cNvPr id="6" name="矩形 5"/>
          <p:cNvSpPr/>
          <p:nvPr/>
        </p:nvSpPr>
        <p:spPr>
          <a:xfrm>
            <a:off x="7018083" y="2547811"/>
            <a:ext cx="4979975" cy="328293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paper_result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5353482" y="2495164"/>
            <a:ext cx="1539761" cy="12881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exp_result_png</a:t>
            </a:r>
            <a:endParaRPr kumimoji="1" lang="zh-CN" altLang="en-US" sz="12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377337" y="4423983"/>
            <a:ext cx="1566930" cy="119821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key_tech_png</a:t>
            </a:r>
            <a:endParaRPr kumimoji="1" lang="zh-CN" altLang="en-US" sz="12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9857217" y="-6846"/>
            <a:ext cx="1169773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6367109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7536882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8706655" y="824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26990" y="-6846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249730" y="-10721"/>
            <a:ext cx="3240378" cy="295496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GB" altLang="zh-CN" sz="1200" dirty="0" err="1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tech_topic</a:t>
            </a:r>
            <a:endParaRPr kumimoji="1" lang="en-GB" altLang="zh-CN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249730" y="700612"/>
            <a:ext cx="11759390" cy="24453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000" dirty="0" err="1"/>
              <a:t>paper_title</a:t>
            </a:r>
            <a:endParaRPr lang="en-GB" altLang="zh-CN" sz="1000" dirty="0"/>
          </a:p>
        </p:txBody>
      </p:sp>
      <p:sp>
        <p:nvSpPr>
          <p:cNvPr id="22" name="矩形 21"/>
          <p:cNvSpPr/>
          <p:nvPr/>
        </p:nvSpPr>
        <p:spPr>
          <a:xfrm>
            <a:off x="249729" y="6016204"/>
            <a:ext cx="11759389" cy="62777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b" anchorCtr="0"/>
          <a:lstStyle/>
          <a:p>
            <a:pPr algn="ctr"/>
            <a:r>
              <a:rPr kumimoji="1" lang="zh-CN" altLang="en-US" sz="1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4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640080" y="6026925"/>
            <a:ext cx="11306953" cy="6170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总结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7616" y="914400"/>
            <a:ext cx="11379581" cy="251459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关键趋势</a:t>
            </a:r>
            <a:endParaRPr kumimoji="1"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07616" y="3428999"/>
            <a:ext cx="11379581" cy="25146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建议</a:t>
            </a:r>
            <a:endParaRPr kumimoji="1"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705666" y="1373224"/>
            <a:ext cx="10983481" cy="1694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key_trends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05666" y="3887823"/>
            <a:ext cx="10983481" cy="1694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suggestions</a:t>
            </a:r>
            <a:endParaRPr kumimoji="1"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1026990" y="-824"/>
            <a:ext cx="1169773" cy="295496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367109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7536882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706655" y="824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9876428" y="0"/>
            <a:ext cx="1169773" cy="29549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ln>
                  <a:solidFill>
                    <a:schemeClr val="tx2"/>
                  </a:solidFill>
                </a:ln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  <a:endParaRPr kumimoji="1" lang="zh-CN" altLang="en-US" sz="1200" dirty="0">
              <a:ln>
                <a:solidFill>
                  <a:schemeClr val="tx2"/>
                </a:solidFill>
              </a:ln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11"/>
          <p:cNvSpPr>
            <a:spLocks noGrp="1"/>
          </p:cNvSpPr>
          <p:nvPr>
            <p:ph type="subTitle" idx="1"/>
          </p:nvPr>
        </p:nvSpPr>
        <p:spPr>
          <a:xfrm>
            <a:off x="729175" y="471777"/>
            <a:ext cx="10740640" cy="993400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4953403" y="2284225"/>
          <a:ext cx="6408172" cy="37058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75018"/>
                <a:gridCol w="936978"/>
                <a:gridCol w="948266"/>
                <a:gridCol w="948267"/>
                <a:gridCol w="948267"/>
                <a:gridCol w="914400"/>
                <a:gridCol w="936976"/>
              </a:tblGrid>
              <a:tr h="595196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T-Mobile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Arial" panose="020B0604020202090204" pitchFamily="34" charset="0"/>
                      </a:endParaRPr>
                    </a:p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Arial" panose="020B0604020202090204" pitchFamily="34" charset="0"/>
                      </a:endParaRPr>
                    </a:p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ea typeface="+mn-ea"/>
                          <a:cs typeface="Arial" panose="020B0604020202090204" pitchFamily="34" charset="0"/>
                        </a:rPr>
                        <a:t>Huawei</a:t>
                      </a:r>
                      <a:endParaRPr lang="en-US" sz="95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Arial" panose="020B0604020202090204" pitchFamily="34" charset="0"/>
                      </a:endParaRPr>
                    </a:p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Arial" panose="020B0604020202090204" pitchFamily="34" charset="0"/>
                      </a:endParaRPr>
                    </a:p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ea typeface="+mn-ea"/>
                          <a:cs typeface="Arial" panose="020B0604020202090204" pitchFamily="34" charset="0"/>
                        </a:rPr>
                        <a:t>Orange</a:t>
                      </a:r>
                      <a:endParaRPr lang="en-US" sz="95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</a:rPr>
                        <a:t>China Mobile</a:t>
                      </a:r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cs typeface="Arial" panose="020B060402020209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cs typeface="Arial" panose="020B0604020202090204" pitchFamily="34" charset="0"/>
                        </a:rPr>
                        <a:t>China Telecom 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cs typeface="Arial" panose="020B060402020209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cs typeface="Arial" panose="020B0604020202090204" pitchFamily="34" charset="0"/>
                        </a:rPr>
                        <a:t>China Unicom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51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40" b="0" dirty="0">
                          <a:latin typeface="+mn-lt"/>
                          <a:cs typeface="Arial" panose="020B0604020202090204" pitchFamily="34" charset="0"/>
                        </a:rPr>
                        <a:t>22M-40M</a:t>
                      </a:r>
                      <a:endParaRPr lang="en-US" sz="1040" b="0" dirty="0">
                        <a:latin typeface="+mn-lt"/>
                        <a:cs typeface="Arial" panose="020B0604020202090204" pitchFamily="34" charset="0"/>
                      </a:endParaRPr>
                    </a:p>
                  </a:txBody>
                  <a:tcPr marL="72000" marR="0" marT="0" marB="0" anchor="ctr"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b="1" dirty="0">
                        <a:solidFill>
                          <a:schemeClr val="accent6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ts val="21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3600" dirty="0">
                          <a:solidFill>
                            <a:srgbClr val="C00000"/>
                          </a:solidFill>
                        </a:rPr>
                        <a:t>•</a:t>
                      </a:r>
                      <a:endParaRPr lang="en-US" sz="3600" b="1" dirty="0">
                        <a:solidFill>
                          <a:srgbClr val="C00000"/>
                        </a:solidFill>
                      </a:endParaRPr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40"/>
                        </a:lnSpc>
                      </a:pPr>
                      <a:endParaRPr lang="en-US" dirty="0"/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endParaRPr lang="en-US" sz="3600" dirty="0"/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1040" b="0" dirty="0">
                        <a:latin typeface="+mn-lt"/>
                        <a:cs typeface="Arial" panose="020B0604020202090204" pitchFamily="34" charset="0"/>
                      </a:endParaRP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040" b="0" dirty="0">
                          <a:latin typeface="+mn-lt"/>
                          <a:cs typeface="Arial" panose="020B0604020202090204" pitchFamily="34" charset="0"/>
                        </a:rPr>
                        <a:t>50M-80M</a:t>
                      </a:r>
                      <a:endParaRPr lang="en-US" sz="1040" dirty="0">
                        <a:latin typeface="+mn-lt"/>
                      </a:endParaRPr>
                    </a:p>
                  </a:txBody>
                  <a:tcPr marL="72000"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 marL="90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rgbClr val="C00000"/>
                          </a:solidFill>
                        </a:rPr>
                        <a:t>•</a:t>
                      </a:r>
                      <a:endParaRPr lang="en-US" sz="36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1040" b="0" dirty="0">
                        <a:latin typeface="+mn-lt"/>
                        <a:cs typeface="Arial" panose="020B0604020202090204" pitchFamily="34" charset="0"/>
                      </a:endParaRP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040" b="0" dirty="0">
                          <a:latin typeface="+mn-lt"/>
                          <a:cs typeface="Arial" panose="020B0604020202090204" pitchFamily="34" charset="0"/>
                        </a:rPr>
                        <a:t>18M-25M</a:t>
                      </a:r>
                      <a:endParaRPr lang="en-US" sz="1040" dirty="0">
                        <a:latin typeface="+mn-lt"/>
                      </a:endParaRPr>
                    </a:p>
                  </a:txBody>
                  <a:tcPr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b="1" dirty="0">
                        <a:solidFill>
                          <a:schemeClr val="accent6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3600" dirty="0">
                          <a:solidFill>
                            <a:srgbClr val="C00000"/>
                          </a:solidFill>
                        </a:rPr>
                        <a:t>•</a:t>
                      </a:r>
                      <a:endParaRPr lang="en-US" sz="36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1040" b="0" dirty="0">
                        <a:latin typeface="+mn-lt"/>
                        <a:cs typeface="Arial" panose="020B0604020202090204" pitchFamily="34" charset="0"/>
                      </a:endParaRPr>
                    </a:p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040" b="0" dirty="0">
                          <a:latin typeface="+mn-lt"/>
                          <a:cs typeface="Arial" panose="020B0604020202090204" pitchFamily="34" charset="0"/>
                        </a:rPr>
                        <a:t>22M-35M</a:t>
                      </a:r>
                      <a:endParaRPr lang="en-US" sz="1040" dirty="0">
                        <a:latin typeface="+mn-lt"/>
                      </a:endParaRPr>
                    </a:p>
                  </a:txBody>
                  <a:tcPr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b="1" dirty="0">
                        <a:solidFill>
                          <a:schemeClr val="accent6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3600" dirty="0">
                          <a:solidFill>
                            <a:srgbClr val="C00000"/>
                          </a:solidFill>
                        </a:rPr>
                        <a:t>•</a:t>
                      </a:r>
                      <a:endParaRPr lang="en-US" sz="36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519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aphicFrame>
        <p:nvGraphicFramePr>
          <p:cNvPr id="7" name="Chart 5"/>
          <p:cNvGraphicFramePr/>
          <p:nvPr/>
        </p:nvGraphicFramePr>
        <p:xfrm>
          <a:off x="777047" y="2607376"/>
          <a:ext cx="3852104" cy="2855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" name="Text Box 22"/>
          <p:cNvSpPr txBox="1">
            <a:spLocks noChangeArrowheads="1"/>
          </p:cNvSpPr>
          <p:nvPr/>
        </p:nvSpPr>
        <p:spPr bwMode="auto">
          <a:xfrm rot="-1200000">
            <a:off x="6777508" y="5077719"/>
            <a:ext cx="5351617" cy="451830"/>
          </a:xfrm>
          <a:prstGeom prst="rect">
            <a:avLst/>
          </a:prstGeom>
          <a:solidFill>
            <a:srgbClr val="FFFFFF">
              <a:alpha val="50196"/>
            </a:srgbClr>
          </a:solidFill>
          <a:ln w="28575" algn="ctr">
            <a:solidFill>
              <a:srgbClr val="C00000"/>
            </a:solidFill>
            <a:miter lim="800000"/>
          </a:ln>
          <a:effectLst/>
        </p:spPr>
        <p:txBody>
          <a:bodyPr wrap="square" lIns="105092" tIns="101810" rIns="105092" bIns="10181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9pPr>
          </a:lstStyle>
          <a:p>
            <a:pPr algn="ctr" defTabSz="732155"/>
            <a:r>
              <a:rPr lang="zh-CN" altLang="en-US" sz="1600" dirty="0">
                <a:solidFill>
                  <a:srgbClr val="C00000"/>
                </a:solidFill>
                <a:latin typeface="+mn-lt"/>
                <a:ea typeface="黑体" pitchFamily="2" charset="-122"/>
              </a:rPr>
              <a:t>此页为图表配色示意，正式使用时请删除此页</a:t>
            </a:r>
            <a:endParaRPr lang="zh-CN" altLang="en-US" sz="1600" dirty="0">
              <a:solidFill>
                <a:srgbClr val="C00000"/>
              </a:solidFill>
              <a:latin typeface="+mn-lt"/>
              <a:ea typeface="黑体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0</TotalTime>
  <Words>2286</Words>
  <Application>WPS 演示</Application>
  <PresentationFormat>自定义</PresentationFormat>
  <Paragraphs>480</Paragraphs>
  <Slides>18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18</vt:i4>
      </vt:variant>
    </vt:vector>
  </HeadingPairs>
  <TitlesOfParts>
    <vt:vector size="40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黑体</vt:lpstr>
      <vt:lpstr>汉仪中黑KW</vt:lpstr>
      <vt:lpstr>宋体</vt:lpstr>
      <vt:lpstr>Arial Unicode MS</vt:lpstr>
      <vt:lpstr>等线</vt:lpstr>
      <vt:lpstr>汉仪中等线KW</vt:lpstr>
      <vt:lpstr>Calibri Light</vt:lpstr>
      <vt:lpstr>Wingdings</vt:lpstr>
      <vt:lpstr>微软雅黑</vt:lpstr>
      <vt:lpstr>黑体</vt:lpstr>
      <vt:lpstr>1_Title Slide</vt:lpstr>
      <vt:lpstr>Chart page</vt:lpstr>
      <vt:lpstr>4_Chart page</vt:lpstr>
      <vt:lpstr>End page</vt:lpstr>
      <vt:lpstr>conference_name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gongxh</cp:lastModifiedBy>
  <cp:revision>106</cp:revision>
  <dcterms:created xsi:type="dcterms:W3CDTF">2025-11-24T03:47:56Z</dcterms:created>
  <dcterms:modified xsi:type="dcterms:W3CDTF">2025-11-24T03:47:56Z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  <property fmtid="{D5CDD505-2E9C-101B-9397-08002B2CF9AE}" pid="9" name="ICV">
    <vt:lpwstr>D6D8F13E24E1FA6567D52369EC799552_42</vt:lpwstr>
  </property>
  <property fmtid="{D5CDD505-2E9C-101B-9397-08002B2CF9AE}" pid="10" name="KSOProductBuildVer">
    <vt:lpwstr>2052-12.1.23141.23141</vt:lpwstr>
  </property>
</Properties>
</file>