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Layouts/slideLayout7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3" r:id="rId2"/>
    <p:sldMasterId id="2147483655" r:id="rId3"/>
    <p:sldMasterId id="2147483657" r:id="rId4"/>
  </p:sldMasterIdLst>
  <p:notesMasterIdLst>
    <p:notesMasterId r:id="rId22"/>
  </p:notesMasterIdLst>
  <p:handoutMasterIdLst>
    <p:handoutMasterId r:id="rId23"/>
  </p:handoutMasterIdLst>
  <p:sldIdLst>
    <p:sldId id="283" r:id="rId5"/>
    <p:sldId id="282" r:id="rId6"/>
    <p:sldId id="281" r:id="rId7"/>
    <p:sldId id="286" r:id="rId8"/>
    <p:sldId id="297" r:id="rId9"/>
    <p:sldId id="298" r:id="rId10"/>
    <p:sldId id="299" r:id="rId11"/>
    <p:sldId id="300" r:id="rId12"/>
    <p:sldId id="301" r:id="rId13"/>
    <p:sldId id="302" r:id="rId14"/>
    <p:sldId id="303" r:id="rId15"/>
    <p:sldId id="291" r:id="rId16"/>
    <p:sldId id="292" r:id="rId17"/>
    <p:sldId id="293" r:id="rId18"/>
    <p:sldId id="294" r:id="rId19"/>
    <p:sldId id="295" r:id="rId20"/>
    <p:sldId id="280" r:id="rId21"/>
  </p:sldIdLst>
  <p:sldSz cx="12196763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页_图片版" id="{E8D0D622-F6C6-F44A-B365-B4A5FF6195C2}">
          <p14:sldIdLst>
            <p14:sldId id="283"/>
          </p14:sldIdLst>
        </p14:section>
        <p14:section name="目录页" id="{9D221634-295C-7843-AF5C-A0CB4F229241}">
          <p14:sldIdLst>
            <p14:sldId id="282"/>
          </p14:sldIdLst>
        </p14:section>
        <p14:section name="章节页" id="{FD05EE94-C931-8C4B-83A2-004B32AA1207}">
          <p14:sldIdLst>
            <p14:sldId id="281"/>
            <p14:sldId id="286"/>
            <p14:sldId id="297"/>
            <p14:sldId id="298"/>
            <p14:sldId id="299"/>
            <p14:sldId id="300"/>
            <p14:sldId id="301"/>
            <p14:sldId id="302"/>
            <p14:sldId id="303"/>
            <p14:sldId id="291"/>
            <p14:sldId id="292"/>
            <p14:sldId id="293"/>
            <p14:sldId id="294"/>
            <p14:sldId id="295"/>
          </p14:sldIdLst>
        </p14:section>
        <p14:section name="结束页" id="{3F9D54A7-3BE2-2540-BB4C-DFE5509085F3}">
          <p14:sldIdLst>
            <p14:sldId id="280"/>
          </p14:sldIdLst>
        </p14:section>
      </p14:sectionLst>
    </p:ext>
    <p:ext uri="{EFAFB233-063F-42B5-8137-9DF3F51BA10A}">
      <p15:sldGuideLst xmlns:p15="http://schemas.microsoft.com/office/powerpoint/2012/main">
        <p15:guide id="5" pos="3682" userDrawn="1">
          <p15:clr>
            <a:srgbClr val="A4A3A4"/>
          </p15:clr>
        </p15:guide>
        <p15:guide id="6" orient="horz" pos="2253" userDrawn="1">
          <p15:clr>
            <a:srgbClr val="A4A3A4"/>
          </p15:clr>
        </p15:guide>
        <p15:guide id="7" pos="356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2126"/>
    <a:srgbClr val="78000F"/>
    <a:srgbClr val="2B632C"/>
    <a:srgbClr val="B0B0B0"/>
    <a:srgbClr val="FFFFFF"/>
    <a:srgbClr val="C7000B"/>
    <a:srgbClr val="151515"/>
    <a:srgbClr val="575756"/>
    <a:srgbClr val="DD4654"/>
    <a:srgbClr val="F3D2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7107" autoAdjust="0"/>
    <p:restoredTop sz="96291"/>
  </p:normalViewPr>
  <p:slideViewPr>
    <p:cSldViewPr snapToGrid="0" snapToObjects="1" showGuides="1">
      <p:cViewPr>
        <p:scale>
          <a:sx n="173" d="100"/>
          <a:sy n="173" d="100"/>
        </p:scale>
        <p:origin x="-176" y="-824"/>
      </p:cViewPr>
      <p:guideLst>
        <p:guide pos="3682"/>
        <p:guide orient="horz" pos="2253"/>
        <p:guide pos="356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96" d="100"/>
          <a:sy n="96" d="100"/>
        </p:scale>
        <p:origin x="3104" y="16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CF71B8-DF2A-2E41-BE66-2E18A767DA8A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5F0CC5-85BE-A64A-BD47-54C66F7E93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D60A27-BF12-6744-9E93-932A0E34D8BB}" type="datetimeFigureOut">
              <a:rPr lang="en-US" smtClean="0"/>
              <a:t>12/29/25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07326F3-4732-B74B-9C70-D0992466E499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2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8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4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80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600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8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7435" algn="l" defTabSz="121920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07326F3-4732-B74B-9C70-D0992466E499}" type="slidenum">
              <a:rPr lang="en-US" smtClean="0"/>
              <a:t>17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探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/>
          <a:stretch>
            <a:fillRect/>
          </a:stretch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7" name="L 形 6"/>
          <p:cNvSpPr/>
          <p:nvPr userDrawn="1"/>
        </p:nvSpPr>
        <p:spPr>
          <a:xfrm rot="5400000">
            <a:off x="7853942" y="2130562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0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智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2" cstate="screen"/>
          <a:srcRect/>
          <a:stretch>
            <a:fillRect/>
          </a:stretch>
        </p:blipFill>
        <p:spPr>
          <a:xfrm>
            <a:off x="1" y="0"/>
            <a:ext cx="12196763" cy="5602265"/>
          </a:xfrm>
          <a:prstGeom prst="rect">
            <a:avLst/>
          </a:prstGeom>
        </p:spPr>
      </p:pic>
      <p:sp>
        <p:nvSpPr>
          <p:cNvPr id="18" name="L 形 17"/>
          <p:cNvSpPr/>
          <p:nvPr userDrawn="1"/>
        </p:nvSpPr>
        <p:spPr>
          <a:xfrm rot="5400000">
            <a:off x="5824025" y="256863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8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攀登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825" r="2034" b="5607"/>
          <a:stretch>
            <a:fillRect/>
          </a:stretch>
        </p:blipFill>
        <p:spPr>
          <a:xfrm>
            <a:off x="1" y="-36206"/>
            <a:ext cx="12196763" cy="563847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8" name="L 形 7"/>
          <p:cNvSpPr/>
          <p:nvPr userDrawn="1"/>
        </p:nvSpPr>
        <p:spPr>
          <a:xfrm rot="5400000">
            <a:off x="7929967" y="1657555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5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灯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" t="7030" b="11599"/>
          <a:stretch>
            <a:fillRect/>
          </a:stretch>
        </p:blipFill>
        <p:spPr>
          <a:xfrm>
            <a:off x="0" y="0"/>
            <a:ext cx="12196763" cy="5602265"/>
          </a:xfrm>
          <a:prstGeom prst="rect">
            <a:avLst/>
          </a:prstGeom>
        </p:spPr>
      </p:pic>
      <p:sp>
        <p:nvSpPr>
          <p:cNvPr id="13" name="L 形 12"/>
          <p:cNvSpPr/>
          <p:nvPr userDrawn="1"/>
        </p:nvSpPr>
        <p:spPr>
          <a:xfrm rot="5400000">
            <a:off x="5945516" y="2323519"/>
            <a:ext cx="701032" cy="717936"/>
          </a:xfrm>
          <a:prstGeom prst="corner">
            <a:avLst>
              <a:gd name="adj1" fmla="val 3243"/>
              <a:gd name="adj2" fmla="val 3048"/>
            </a:avLst>
          </a:prstGeom>
          <a:solidFill>
            <a:srgbClr val="C700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sz="900"/>
          </a:p>
        </p:txBody>
      </p:sp>
      <p:sp>
        <p:nvSpPr>
          <p:cNvPr id="11" name="Title 1"/>
          <p:cNvSpPr>
            <a:spLocks noGrp="1"/>
          </p:cNvSpPr>
          <p:nvPr>
            <p:ph type="ctrTitle" hasCustomPrompt="1"/>
          </p:nvPr>
        </p:nvSpPr>
        <p:spPr>
          <a:xfrm>
            <a:off x="898996" y="907092"/>
            <a:ext cx="6559809" cy="690255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defRPr sz="3200" b="0" i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5" name="Text Placeholder 5"/>
          <p:cNvSpPr>
            <a:spLocks noGrp="1"/>
          </p:cNvSpPr>
          <p:nvPr>
            <p:ph type="body" sz="quarter" idx="10" hasCustomPrompt="1"/>
          </p:nvPr>
        </p:nvSpPr>
        <p:spPr>
          <a:xfrm>
            <a:off x="929260" y="1949372"/>
            <a:ext cx="6535842" cy="643926"/>
          </a:xfrm>
        </p:spPr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s page">
    <p:bg>
      <p:bgPr>
        <a:solidFill>
          <a:srgbClr val="EBEB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1033620" y="1843088"/>
            <a:ext cx="10122060" cy="3013725"/>
          </a:xfrm>
          <a:prstGeom prst="rect">
            <a:avLst/>
          </a:prstGeom>
        </p:spPr>
        <p:txBody>
          <a:bodyPr tIns="90000" bIns="90000"/>
          <a:lstStyle>
            <a:lvl1pPr marL="412750" indent="-398780">
              <a:lnSpc>
                <a:spcPct val="70000"/>
              </a:lnSpc>
              <a:buFont typeface="+mj-lt"/>
              <a:buAutoNum type="arabicPeriod"/>
              <a:defRPr sz="2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412750" indent="-398780">
              <a:buFont typeface="+mj-lt"/>
              <a:buAutoNum type="arabicPeriod"/>
              <a:defRPr/>
            </a:lvl2pPr>
            <a:lvl3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3pPr>
            <a:lvl4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4pPr>
            <a:lvl5pPr marL="13970" indent="0">
              <a:buFont typeface="+mj-lt"/>
              <a:buNone/>
              <a:defRPr sz="2200">
                <a:latin typeface="微软雅黑" panose="020B0503020204020204" pitchFamily="34" charset="-122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altLang="zh-CN" dirty="0"/>
          </a:p>
        </p:txBody>
      </p:sp>
      <p:cxnSp>
        <p:nvCxnSpPr>
          <p:cNvPr id="3" name="直线连接符 14"/>
          <p:cNvCxnSpPr/>
          <p:nvPr userDrawn="1"/>
        </p:nvCxnSpPr>
        <p:spPr>
          <a:xfrm flipH="1">
            <a:off x="1029918" y="1349255"/>
            <a:ext cx="885967" cy="0"/>
          </a:xfrm>
          <a:prstGeom prst="line">
            <a:avLst/>
          </a:prstGeom>
          <a:ln w="28575">
            <a:solidFill>
              <a:srgbClr val="C7000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文本框 16"/>
          <p:cNvSpPr txBox="1"/>
          <p:nvPr userDrawn="1"/>
        </p:nvSpPr>
        <p:spPr>
          <a:xfrm>
            <a:off x="918916" y="630373"/>
            <a:ext cx="1147485" cy="6535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zh-CN" altLang="en-US" sz="3635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目录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inese tex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29175" y="456134"/>
            <a:ext cx="10740640" cy="993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ts val="3430"/>
              </a:lnSpc>
              <a:spcBef>
                <a:spcPts val="0"/>
              </a:spcBef>
              <a:buNone/>
              <a:defRPr sz="3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  <a:lvl2pPr marL="593725" indent="0" algn="ctr">
              <a:buNone/>
              <a:defRPr sz="2600"/>
            </a:lvl2pPr>
            <a:lvl3pPr marL="1188085" indent="0" algn="ctr">
              <a:buNone/>
              <a:defRPr sz="2340"/>
            </a:lvl3pPr>
            <a:lvl4pPr marL="1781810" indent="0" algn="ctr">
              <a:buNone/>
              <a:defRPr sz="2080"/>
            </a:lvl4pPr>
            <a:lvl5pPr marL="2375535" indent="0" algn="ctr">
              <a:buNone/>
              <a:defRPr sz="2080"/>
            </a:lvl5pPr>
            <a:lvl6pPr marL="2969260" indent="0" algn="ctr">
              <a:buNone/>
              <a:defRPr sz="2080"/>
            </a:lvl6pPr>
            <a:lvl7pPr marL="3563620" indent="0" algn="ctr">
              <a:buNone/>
              <a:defRPr sz="2080"/>
            </a:lvl7pPr>
            <a:lvl8pPr marL="4157345" indent="0" algn="ctr">
              <a:buNone/>
              <a:defRPr sz="2080"/>
            </a:lvl8pPr>
            <a:lvl9pPr marL="4751070" indent="0" algn="ctr">
              <a:buNone/>
              <a:defRPr sz="2080"/>
            </a:lvl9pPr>
          </a:lstStyle>
          <a:p>
            <a:r>
              <a:rPr lang="zh-CN" altLang="en-US" dirty="0"/>
              <a:t>单击此处添加标题</a:t>
            </a:r>
            <a:endParaRPr lang="en-US" dirty="0"/>
          </a:p>
        </p:txBody>
      </p:sp>
      <p:sp>
        <p:nvSpPr>
          <p:cNvPr id="7" name="Content Placeholder 2"/>
          <p:cNvSpPr>
            <a:spLocks noGrp="1"/>
          </p:cNvSpPr>
          <p:nvPr>
            <p:ph idx="10" hasCustomPrompt="1"/>
          </p:nvPr>
        </p:nvSpPr>
        <p:spPr>
          <a:xfrm>
            <a:off x="736908" y="1501989"/>
            <a:ext cx="10733557" cy="4690459"/>
          </a:xfrm>
          <a:prstGeom prst="rect">
            <a:avLst/>
          </a:prstGeom>
        </p:spPr>
        <p:txBody>
          <a:bodyPr lIns="0" tIns="0" rIns="0" bIns="0"/>
          <a:lstStyle>
            <a:lvl1pPr marL="12065" indent="0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>
              <a:buFont typeface="Arial" panose="020B0604020202020204" pitchFamily="34" charset="0"/>
              <a:buChar char="•"/>
              <a:tabLst>
                <a:tab pos="1208405" algn="ctr"/>
              </a:tabLst>
              <a:defRPr sz="1300" baseline="0"/>
            </a:lvl2pPr>
            <a:lvl3pPr marL="525780" indent="-171450">
              <a:buFont typeface="Arial" panose="020B0604020202020204" pitchFamily="34" charset="0"/>
              <a:buChar char="•"/>
              <a:tabLst>
                <a:tab pos="1208405" algn="ctr"/>
              </a:tabLst>
              <a:defRPr sz="1300" baseline="0"/>
            </a:lvl3pPr>
            <a:lvl4pPr marL="525780" indent="-171450">
              <a:buFont typeface="Arial" panose="020B0604020202020204" pitchFamily="34" charset="0"/>
              <a:buChar char="•"/>
              <a:tabLst>
                <a:tab pos="1208405" algn="ctr"/>
              </a:tabLst>
              <a:defRPr sz="1300" baseline="0"/>
            </a:lvl4pPr>
            <a:lvl5pPr marL="525780" indent="-171450">
              <a:buFont typeface="Arial" panose="020B0604020202020204" pitchFamily="34" charset="0"/>
              <a:buChar char="•"/>
              <a:tabLst>
                <a:tab pos="1208405" algn="ctr"/>
              </a:tabLst>
              <a:defRPr sz="1300" baseline="0"/>
            </a:lvl5pPr>
          </a:lstStyle>
          <a:p>
            <a:pPr lvl="0"/>
            <a:r>
              <a:rPr lang="zh-CN" altLang="en-US" dirty="0"/>
              <a:t>单击此处添加文本</a:t>
            </a:r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pag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 userDrawn="1"/>
        </p:nvSpPr>
        <p:spPr>
          <a:xfrm>
            <a:off x="607486" y="1402064"/>
            <a:ext cx="3921034" cy="854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4940" dirty="0">
                <a:solidFill>
                  <a:schemeClr val="tx1"/>
                </a:solidFill>
              </a:rPr>
              <a:t>Thank you.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5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theme" Target="../theme/theme3.xml"/><Relationship Id="rId1" Type="http://schemas.openxmlformats.org/officeDocument/2006/relationships/slideLayout" Target="../slideLayouts/slideLayout6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/>
          <p:cNvSpPr>
            <a:spLocks noGrp="1"/>
          </p:cNvSpPr>
          <p:nvPr>
            <p:ph type="body" idx="1"/>
          </p:nvPr>
        </p:nvSpPr>
        <p:spPr>
          <a:xfrm>
            <a:off x="909309" y="6270651"/>
            <a:ext cx="1982316" cy="153611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>
              <a:lnSpc>
                <a:spcPct val="100000"/>
              </a:lnSpc>
            </a:pPr>
            <a:r>
              <a:rPr kumimoji="1" lang="en-US" altLang="zh-CN" sz="1000" dirty="0"/>
              <a:t>Security Level:</a:t>
            </a:r>
            <a:endParaRPr lang="en-US" altLang="zh-CN" sz="1000" dirty="0"/>
          </a:p>
        </p:txBody>
      </p:sp>
      <p:pic>
        <p:nvPicPr>
          <p:cNvPr id="38" name="图片 37"/>
          <p:cNvPicPr>
            <a:picLocks noChangeAspect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6684" y="5976168"/>
            <a:ext cx="2258389" cy="482533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l" defTabSz="914400" rtl="0" eaLnBrk="1" latinLnBrk="0" hangingPunct="1">
        <a:lnSpc>
          <a:spcPts val="3440"/>
        </a:lnSpc>
        <a:spcBef>
          <a:spcPct val="0"/>
        </a:spcBef>
        <a:buNone/>
        <a:defRPr sz="32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buFontTx/>
        <a:buNone/>
        <a:defRPr sz="1000" kern="1200">
          <a:solidFill>
            <a:srgbClr val="1D1D1B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Tx/>
        <a:buNone/>
        <a:defRPr sz="75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1095467" y="6356939"/>
            <a:ext cx="1463467" cy="242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75" b="0" baseline="0" dirty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Huawei Confidential</a:t>
            </a:r>
          </a:p>
        </p:txBody>
      </p:sp>
      <p:sp>
        <p:nvSpPr>
          <p:cNvPr id="4" name="TextBox 3"/>
          <p:cNvSpPr txBox="1"/>
          <p:nvPr userDrawn="1"/>
        </p:nvSpPr>
        <p:spPr>
          <a:xfrm>
            <a:off x="734131" y="6402806"/>
            <a:ext cx="499729" cy="15029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890905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3837181-38C6-AD4F-B8BA-B444770388BB}" type="slidenum">
              <a:rPr lang="en-US" sz="975" smtClean="0">
                <a:solidFill>
                  <a:srgbClr val="1D1D1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‹#›</a:t>
            </a:fld>
            <a:endParaRPr lang="en-US" sz="975" dirty="0">
              <a:solidFill>
                <a:srgbClr val="1D1D1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999" y="6319870"/>
            <a:ext cx="1269075" cy="271153"/>
          </a:xfrm>
          <a:prstGeom prst="rect">
            <a:avLst/>
          </a:prstGeom>
        </p:spPr>
      </p:pic>
      <p:grpSp>
        <p:nvGrpSpPr>
          <p:cNvPr id="25" name="组合 24"/>
          <p:cNvGrpSpPr/>
          <p:nvPr userDrawn="1"/>
        </p:nvGrpSpPr>
        <p:grpSpPr>
          <a:xfrm>
            <a:off x="12216278" y="2931937"/>
            <a:ext cx="1982916" cy="3934682"/>
            <a:chOff x="12216278" y="2262477"/>
            <a:chExt cx="1982916" cy="4604143"/>
          </a:xfrm>
        </p:grpSpPr>
        <p:grpSp>
          <p:nvGrpSpPr>
            <p:cNvPr id="26" name="组合 25"/>
            <p:cNvGrpSpPr/>
            <p:nvPr userDrawn="1"/>
          </p:nvGrpSpPr>
          <p:grpSpPr>
            <a:xfrm>
              <a:off x="12315635" y="2262477"/>
              <a:ext cx="1883559" cy="692624"/>
              <a:chOff x="12315635" y="2207613"/>
              <a:chExt cx="1883559" cy="692624"/>
            </a:xfrm>
          </p:grpSpPr>
          <p:sp>
            <p:nvSpPr>
              <p:cNvPr id="44" name="矩形 5"/>
              <p:cNvSpPr/>
              <p:nvPr userDrawn="1"/>
            </p:nvSpPr>
            <p:spPr>
              <a:xfrm>
                <a:off x="12315635" y="2401808"/>
                <a:ext cx="911019" cy="498429"/>
              </a:xfrm>
              <a:prstGeom prst="rect">
                <a:avLst/>
              </a:prstGeom>
              <a:solidFill>
                <a:srgbClr val="C8102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P</a:t>
                </a:r>
                <a:r>
                  <a:rPr kumimoji="1" lang="en-US" altLang="en-US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 186C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200/16/46</a:t>
                </a:r>
              </a:p>
            </p:txBody>
          </p:sp>
          <p:sp>
            <p:nvSpPr>
              <p:cNvPr id="45" name="矩形 9"/>
              <p:cNvSpPr/>
              <p:nvPr userDrawn="1"/>
            </p:nvSpPr>
            <p:spPr>
              <a:xfrm>
                <a:off x="13288175" y="2401808"/>
                <a:ext cx="911019" cy="498429"/>
              </a:xfrm>
              <a:prstGeom prst="rect">
                <a:avLst/>
              </a:prstGeom>
              <a:solidFill>
                <a:srgbClr val="C7000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P</a:t>
                </a:r>
                <a:r>
                  <a:rPr kumimoji="1" lang="en-US" altLang="en-US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ANTONE</a:t>
                </a: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 185C</a:t>
                </a:r>
              </a:p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199/0/11</a:t>
                </a:r>
              </a:p>
            </p:txBody>
          </p:sp>
          <p:sp>
            <p:nvSpPr>
              <p:cNvPr id="46" name="文本框 31"/>
              <p:cNvSpPr txBox="1"/>
              <p:nvPr userDrawn="1"/>
            </p:nvSpPr>
            <p:spPr>
              <a:xfrm>
                <a:off x="12326898" y="2207613"/>
                <a:ext cx="384721" cy="1538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品牌色</a:t>
                </a:r>
              </a:p>
            </p:txBody>
          </p:sp>
        </p:grpSp>
        <p:grpSp>
          <p:nvGrpSpPr>
            <p:cNvPr id="27" name="组合 26"/>
            <p:cNvGrpSpPr/>
            <p:nvPr userDrawn="1"/>
          </p:nvGrpSpPr>
          <p:grpSpPr>
            <a:xfrm>
              <a:off x="12216278" y="3080825"/>
              <a:ext cx="1982912" cy="3785795"/>
              <a:chOff x="12216278" y="3080825"/>
              <a:chExt cx="1982912" cy="3785795"/>
            </a:xfrm>
          </p:grpSpPr>
          <p:sp>
            <p:nvSpPr>
              <p:cNvPr id="28" name="矩形 12"/>
              <p:cNvSpPr/>
              <p:nvPr userDrawn="1"/>
            </p:nvSpPr>
            <p:spPr>
              <a:xfrm>
                <a:off x="12315640" y="3785971"/>
                <a:ext cx="885201" cy="462672"/>
              </a:xfrm>
              <a:prstGeom prst="rect">
                <a:avLst/>
              </a:prstGeom>
              <a:solidFill>
                <a:srgbClr val="EA5A4F"/>
              </a:solidFill>
              <a:ln>
                <a:solidFill>
                  <a:srgbClr val="EA5A4F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234/90/79</a:t>
                </a:r>
              </a:p>
            </p:txBody>
          </p:sp>
          <p:sp>
            <p:nvSpPr>
              <p:cNvPr id="29" name="矩形 13"/>
              <p:cNvSpPr/>
              <p:nvPr userDrawn="1"/>
            </p:nvSpPr>
            <p:spPr>
              <a:xfrm>
                <a:off x="12315640" y="3259312"/>
                <a:ext cx="885201" cy="462672"/>
              </a:xfrm>
              <a:prstGeom prst="rect">
                <a:avLst/>
              </a:prstGeom>
              <a:solidFill>
                <a:srgbClr val="78000F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120/0/15</a:t>
                </a:r>
              </a:p>
            </p:txBody>
          </p:sp>
          <p:sp>
            <p:nvSpPr>
              <p:cNvPr id="30" name="文本框 15"/>
              <p:cNvSpPr txBox="1"/>
              <p:nvPr userDrawn="1"/>
            </p:nvSpPr>
            <p:spPr>
              <a:xfrm>
                <a:off x="12216278" y="3080825"/>
                <a:ext cx="569387" cy="153888"/>
              </a:xfrm>
              <a:prstGeom prst="rect">
                <a:avLst/>
              </a:prstGeom>
              <a:noFill/>
            </p:spPr>
            <p:txBody>
              <a:bodyPr wrap="square" lIns="0" tIns="0" rIns="0" bIns="0" rtlCol="0" anchor="b" anchorCtr="0">
                <a:spAutoFit/>
              </a:bodyPr>
              <a:lstStyle/>
              <a:p>
                <a:pPr algn="ctr">
                  <a:lnSpc>
                    <a:spcPct val="100000"/>
                  </a:lnSpc>
                </a:pPr>
                <a:r>
                  <a:rPr kumimoji="1" lang="zh-CN" altLang="en-US" sz="1000" dirty="0">
                    <a:solidFill>
                      <a:schemeClr val="tx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辅助色</a:t>
                </a:r>
              </a:p>
            </p:txBody>
          </p:sp>
          <p:sp>
            <p:nvSpPr>
              <p:cNvPr id="31" name="矩形 16"/>
              <p:cNvSpPr/>
              <p:nvPr userDrawn="1"/>
            </p:nvSpPr>
            <p:spPr>
              <a:xfrm>
                <a:off x="12315640" y="4836793"/>
                <a:ext cx="885201" cy="462672"/>
              </a:xfrm>
              <a:prstGeom prst="rect">
                <a:avLst/>
              </a:prstGeom>
              <a:solidFill>
                <a:srgbClr val="F8B53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248/181/60</a:t>
                </a:r>
              </a:p>
            </p:txBody>
          </p:sp>
          <p:sp>
            <p:nvSpPr>
              <p:cNvPr id="32" name="矩形 17"/>
              <p:cNvSpPr/>
              <p:nvPr userDrawn="1"/>
            </p:nvSpPr>
            <p:spPr>
              <a:xfrm>
                <a:off x="12315640" y="4319278"/>
                <a:ext cx="885201" cy="462672"/>
              </a:xfrm>
              <a:prstGeom prst="rect">
                <a:avLst/>
              </a:prstGeom>
              <a:solidFill>
                <a:srgbClr val="EB5C0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235/92/1</a:t>
                </a:r>
              </a:p>
            </p:txBody>
          </p:sp>
          <p:sp>
            <p:nvSpPr>
              <p:cNvPr id="33" name="矩形 18"/>
              <p:cNvSpPr/>
              <p:nvPr userDrawn="1"/>
            </p:nvSpPr>
            <p:spPr>
              <a:xfrm>
                <a:off x="12315636" y="5880294"/>
                <a:ext cx="911019" cy="462672"/>
              </a:xfrm>
              <a:prstGeom prst="rect">
                <a:avLst/>
              </a:prstGeom>
              <a:solidFill>
                <a:srgbClr val="89898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137/137/137</a:t>
                </a:r>
              </a:p>
            </p:txBody>
          </p:sp>
          <p:sp>
            <p:nvSpPr>
              <p:cNvPr id="34" name="矩形 19"/>
              <p:cNvSpPr/>
              <p:nvPr userDrawn="1"/>
            </p:nvSpPr>
            <p:spPr>
              <a:xfrm>
                <a:off x="12315636" y="5362779"/>
                <a:ext cx="911019" cy="462672"/>
              </a:xfrm>
              <a:prstGeom prst="rect">
                <a:avLst/>
              </a:prstGeom>
              <a:solidFill>
                <a:srgbClr val="23181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35/24/21</a:t>
                </a:r>
              </a:p>
            </p:txBody>
          </p:sp>
          <p:sp>
            <p:nvSpPr>
              <p:cNvPr id="35" name="矩形 22"/>
              <p:cNvSpPr/>
              <p:nvPr userDrawn="1"/>
            </p:nvSpPr>
            <p:spPr>
              <a:xfrm>
                <a:off x="12315636" y="6403948"/>
                <a:ext cx="911019" cy="462672"/>
              </a:xfrm>
              <a:prstGeom prst="rect">
                <a:avLst/>
              </a:prstGeom>
              <a:solidFill>
                <a:srgbClr val="DDDDDD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221/221/221</a:t>
                </a:r>
              </a:p>
            </p:txBody>
          </p:sp>
          <p:sp>
            <p:nvSpPr>
              <p:cNvPr id="36" name="矩形 12"/>
              <p:cNvSpPr/>
              <p:nvPr userDrawn="1"/>
            </p:nvSpPr>
            <p:spPr>
              <a:xfrm>
                <a:off x="13288175" y="3785971"/>
                <a:ext cx="885201" cy="462672"/>
              </a:xfrm>
              <a:prstGeom prst="rect">
                <a:avLst/>
              </a:prstGeom>
              <a:solidFill>
                <a:srgbClr val="E98C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233/140/128</a:t>
                </a:r>
              </a:p>
            </p:txBody>
          </p:sp>
          <p:sp>
            <p:nvSpPr>
              <p:cNvPr id="37" name="矩形 13"/>
              <p:cNvSpPr/>
              <p:nvPr userDrawn="1"/>
            </p:nvSpPr>
            <p:spPr>
              <a:xfrm>
                <a:off x="13288175" y="3259312"/>
                <a:ext cx="885201" cy="462672"/>
              </a:xfrm>
              <a:prstGeom prst="rect">
                <a:avLst/>
              </a:prstGeom>
              <a:solidFill>
                <a:srgbClr val="A72126"/>
              </a:solidFill>
              <a:ln>
                <a:solidFill>
                  <a:srgbClr val="9F000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159/0/1</a:t>
                </a:r>
              </a:p>
            </p:txBody>
          </p:sp>
          <p:sp>
            <p:nvSpPr>
              <p:cNvPr id="38" name="矩形 16"/>
              <p:cNvSpPr/>
              <p:nvPr userDrawn="1"/>
            </p:nvSpPr>
            <p:spPr>
              <a:xfrm>
                <a:off x="13288175" y="4836793"/>
                <a:ext cx="885201" cy="462672"/>
              </a:xfrm>
              <a:prstGeom prst="rect">
                <a:avLst/>
              </a:prstGeom>
              <a:solidFill>
                <a:srgbClr val="F5DC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245/220/87</a:t>
                </a:r>
              </a:p>
            </p:txBody>
          </p:sp>
          <p:sp>
            <p:nvSpPr>
              <p:cNvPr id="39" name="矩形 17"/>
              <p:cNvSpPr/>
              <p:nvPr userDrawn="1"/>
            </p:nvSpPr>
            <p:spPr>
              <a:xfrm>
                <a:off x="13288175" y="4319278"/>
                <a:ext cx="885201" cy="462672"/>
              </a:xfrm>
              <a:prstGeom prst="rect">
                <a:avLst/>
              </a:prstGeom>
              <a:solidFill>
                <a:srgbClr val="F085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240/133/0</a:t>
                </a:r>
              </a:p>
            </p:txBody>
          </p:sp>
          <p:sp>
            <p:nvSpPr>
              <p:cNvPr id="40" name="矩形 18"/>
              <p:cNvSpPr/>
              <p:nvPr userDrawn="1"/>
            </p:nvSpPr>
            <p:spPr>
              <a:xfrm>
                <a:off x="13288171" y="5880294"/>
                <a:ext cx="911019" cy="462672"/>
              </a:xfrm>
              <a:prstGeom prst="rect">
                <a:avLst/>
              </a:prstGeom>
              <a:solidFill>
                <a:srgbClr val="B5B5B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181/181/181</a:t>
                </a:r>
              </a:p>
            </p:txBody>
          </p:sp>
          <p:sp>
            <p:nvSpPr>
              <p:cNvPr id="42" name="矩形 19"/>
              <p:cNvSpPr/>
              <p:nvPr userDrawn="1"/>
            </p:nvSpPr>
            <p:spPr>
              <a:xfrm>
                <a:off x="13288171" y="5362779"/>
                <a:ext cx="911019" cy="462672"/>
              </a:xfrm>
              <a:prstGeom prst="rect">
                <a:avLst/>
              </a:prstGeom>
              <a:solidFill>
                <a:srgbClr val="595757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tx2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89/87/87</a:t>
                </a:r>
              </a:p>
            </p:txBody>
          </p:sp>
          <p:sp>
            <p:nvSpPr>
              <p:cNvPr id="43" name="矩形 22"/>
              <p:cNvSpPr/>
              <p:nvPr userDrawn="1"/>
            </p:nvSpPr>
            <p:spPr>
              <a:xfrm>
                <a:off x="13288171" y="6403948"/>
                <a:ext cx="911019" cy="462672"/>
              </a:xfrm>
              <a:prstGeom prst="rect">
                <a:avLst/>
              </a:prstGeom>
              <a:solidFill>
                <a:srgbClr val="FFFFFF"/>
              </a:solidFill>
              <a:ln w="6350">
                <a:solidFill>
                  <a:schemeClr val="bg1">
                    <a:lumMod val="10000"/>
                    <a:lumOff val="9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tIns="0" rIns="0" bIns="0" rtlCol="0" anchor="ctr"/>
              <a:lstStyle/>
              <a:p>
                <a:pPr algn="ctr">
                  <a:lnSpc>
                    <a:spcPct val="100000"/>
                  </a:lnSpc>
                </a:pPr>
                <a:r>
                  <a:rPr kumimoji="1" lang="en-US" altLang="zh-CN" sz="700" b="1" dirty="0">
                    <a:solidFill>
                      <a:schemeClr val="bg1"/>
                    </a:solidFill>
                    <a:latin typeface="Arial" panose="020B0604020202020204" pitchFamily="34" charset="0"/>
                    <a:ea typeface="Arial" panose="020B0604020202020204" pitchFamily="34" charset="0"/>
                    <a:cs typeface="Arial" panose="020B0604020202020204" pitchFamily="34" charset="0"/>
                  </a:rPr>
                  <a:t>RGB 255/255/255</a:t>
                </a:r>
              </a:p>
            </p:txBody>
          </p:sp>
        </p:grp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6" r:id="rId1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71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97180" indent="-29718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Char char="•"/>
        <a:defRPr sz="3635" kern="1200">
          <a:solidFill>
            <a:schemeClr val="tx1"/>
          </a:solidFill>
          <a:latin typeface="+mn-lt"/>
          <a:ea typeface="+mn-ea"/>
          <a:cs typeface="+mn-cs"/>
        </a:defRPr>
      </a:lvl1pPr>
      <a:lvl2pPr marL="89090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48463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207835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67271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6573" y="1474269"/>
            <a:ext cx="3984232" cy="28160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"/>
          <p:cNvSpPr txBox="1"/>
          <p:nvPr userDrawn="1"/>
        </p:nvSpPr>
        <p:spPr>
          <a:xfrm>
            <a:off x="7979357" y="2794960"/>
            <a:ext cx="3225168" cy="202996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065"/>
              </a:lnSpc>
            </a:pP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Copyright©2021 Huawei Technologies Co., Ltd.</a:t>
            </a:r>
            <a:b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</a:br>
            <a:r>
              <a:rPr kumimoji="1" lang="en-US" altLang="zh-CN" sz="850" b="1" baseline="0" dirty="0">
                <a:solidFill>
                  <a:srgbClr val="1D1D1B"/>
                </a:solidFill>
                <a:latin typeface="+mj-lt"/>
              </a:rPr>
              <a:t>All Rights Reserved.</a:t>
            </a: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br>
              <a:rPr kumimoji="1" lang="en-US" altLang="zh-CN" sz="780" dirty="0">
                <a:solidFill>
                  <a:srgbClr val="1D1D1B"/>
                </a:solidFill>
                <a:latin typeface="+mn-lt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information in this document may contain predictive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statements including, without limitation, statements regarding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 future financial and operating results, future product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portfolio, new technology, etc. There are a number of factors that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could cause actual results and developments to differ materially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from those expressed or implied in the predictive statements.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Therefore, such information is provided for reference purpose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only and constitutes neither an offer nor an acceptance. Huawei </a:t>
            </a:r>
            <a:b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850" baseline="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may change the information at any time without notice. </a:t>
            </a:r>
          </a:p>
          <a:p>
            <a:pPr>
              <a:lnSpc>
                <a:spcPts val="1065"/>
              </a:lnSpc>
            </a:pPr>
            <a:endParaRPr kumimoji="1" lang="zh-CN" altLang="en-US" sz="780" dirty="0">
              <a:solidFill>
                <a:srgbClr val="1D1D1B"/>
              </a:solidFill>
              <a:latin typeface="+mn-lt"/>
            </a:endParaRPr>
          </a:p>
        </p:txBody>
      </p:sp>
      <p:sp>
        <p:nvSpPr>
          <p:cNvPr id="6" name="Subtitle 6"/>
          <p:cNvSpPr txBox="1"/>
          <p:nvPr userDrawn="1"/>
        </p:nvSpPr>
        <p:spPr>
          <a:xfrm>
            <a:off x="7987276" y="1631849"/>
            <a:ext cx="3477701" cy="49111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680"/>
              </a:lnSpc>
              <a:spcBef>
                <a:spcPts val="0"/>
              </a:spcBef>
            </a:pP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把数字世界带入每个人、每个家庭、</a:t>
            </a:r>
            <a:br>
              <a:rPr kumimoji="1" lang="en-US" altLang="zh-CN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</a:br>
            <a:r>
              <a:rPr kumimoji="1" lang="zh-CN" altLang="en-US" sz="1300" dirty="0">
                <a:solidFill>
                  <a:srgbClr val="1D1D1B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每个组织，构建万物互联的智能世界。</a:t>
            </a:r>
          </a:p>
        </p:txBody>
      </p:sp>
      <p:sp>
        <p:nvSpPr>
          <p:cNvPr id="7" name="Subtitle 6"/>
          <p:cNvSpPr txBox="1"/>
          <p:nvPr userDrawn="1"/>
        </p:nvSpPr>
        <p:spPr>
          <a:xfrm>
            <a:off x="7977672" y="2106124"/>
            <a:ext cx="3481833" cy="582808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295"/>
              </a:lnSpc>
            </a:pP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Bring digital to every person, home, and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organization for a fully connected, </a:t>
            </a:r>
            <a:b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</a:br>
            <a:r>
              <a:rPr kumimoji="1" lang="en-US" altLang="zh-CN" sz="1200" dirty="0">
                <a:solidFill>
                  <a:srgbClr val="1D1D1B"/>
                </a:solidFill>
                <a:latin typeface="+mn-lt"/>
                <a:cs typeface="Arial" panose="020B0604020202020204" pitchFamily="34" charset="0"/>
              </a:rPr>
              <a:t>intelligent world.</a:t>
            </a:r>
            <a:endParaRPr kumimoji="1" lang="zh-CN" altLang="en-US" sz="1200" dirty="0">
              <a:solidFill>
                <a:srgbClr val="1D1D1B"/>
              </a:solidFill>
              <a:latin typeface="+mn-lt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pic>
        <p:nvPicPr>
          <p:cNvPr id="99" name="图片 98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75497" y="5251150"/>
            <a:ext cx="1869596" cy="39946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8" r:id="rId1"/>
  </p:sldLayoutIdLst>
  <p:hf hdr="0" ftr="0" dt="0"/>
  <p:txStyles>
    <p:titleStyle>
      <a:lvl1pPr algn="l" defTabSz="1188085" rtl="0" eaLnBrk="1" latinLnBrk="0" hangingPunct="1">
        <a:lnSpc>
          <a:spcPct val="90000"/>
        </a:lnSpc>
        <a:spcBef>
          <a:spcPct val="0"/>
        </a:spcBef>
        <a:buNone/>
        <a:defRPr sz="5000" b="0" kern="1200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Arial" panose="020B0604020202020204" pitchFamily="34" charset="0"/>
        </a:defRPr>
      </a:lvl1pPr>
    </p:titleStyle>
    <p:bodyStyle>
      <a:lvl1pPr marL="0" indent="0" algn="l" defTabSz="1188085" rtl="0" eaLnBrk="1" latinLnBrk="0" hangingPunct="1">
        <a:lnSpc>
          <a:spcPct val="90000"/>
        </a:lnSpc>
        <a:spcBef>
          <a:spcPts val="1300"/>
        </a:spcBef>
        <a:buFont typeface="Arial" panose="020B0604020202020204" pitchFamily="34" charset="0"/>
        <a:buNone/>
        <a:defRPr sz="1820" kern="1200">
          <a:solidFill>
            <a:srgbClr val="FFFFFF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59372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312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60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indent="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None/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326644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86016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454525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5048250" indent="-297180" algn="l" defTabSz="1188085" rtl="0" eaLnBrk="1" latinLnBrk="0" hangingPunct="1">
        <a:lnSpc>
          <a:spcPct val="90000"/>
        </a:lnSpc>
        <a:spcBef>
          <a:spcPts val="650"/>
        </a:spcBef>
        <a:buFont typeface="Arial" panose="020B0604020202020204" pitchFamily="34" charset="0"/>
        <a:buChar char="•"/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1pPr>
      <a:lvl2pPr marL="59372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2pPr>
      <a:lvl3pPr marL="118808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3pPr>
      <a:lvl4pPr marL="178181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4pPr>
      <a:lvl5pPr marL="237553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5pPr>
      <a:lvl6pPr marL="296926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6pPr>
      <a:lvl7pPr marL="356362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7pPr>
      <a:lvl8pPr marL="4157345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8pPr>
      <a:lvl9pPr marL="4751070" algn="l" defTabSz="1188085" rtl="0" eaLnBrk="1" latinLnBrk="0" hangingPunct="1">
        <a:defRPr sz="2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b="1" dirty="0" err="1"/>
              <a:t>conference_name</a:t>
            </a:r>
            <a:endParaRPr lang="zh-CN" altLang="en-US" b="1" dirty="0"/>
          </a:p>
        </p:txBody>
      </p:sp>
      <p:sp>
        <p:nvSpPr>
          <p:cNvPr id="6" name="Text Placeholder 7"/>
          <p:cNvSpPr>
            <a:spLocks noGrp="1"/>
          </p:cNvSpPr>
          <p:nvPr>
            <p:ph type="body" sz="quarter" idx="10"/>
          </p:nvPr>
        </p:nvSpPr>
        <p:spPr>
          <a:xfrm>
            <a:off x="898996" y="4468454"/>
            <a:ext cx="6535842" cy="643926"/>
          </a:xfrm>
        </p:spPr>
        <p:txBody>
          <a:bodyPr/>
          <a:lstStyle/>
          <a:p>
            <a:pPr fontAlgn="auto">
              <a:lnSpc>
                <a:spcPct val="150000"/>
              </a:lnSpc>
            </a:pPr>
            <a:r>
              <a:rPr lang="zh-CN" altLang="en-US" sz="2000" b="1" dirty="0">
                <a:latin typeface="+mj-ea"/>
                <a:ea typeface="+mj-ea"/>
              </a:rPr>
              <a:t>作者：</a:t>
            </a:r>
            <a:r>
              <a:rPr lang="en-US" altLang="zh-CN" sz="2000" b="1" dirty="0" err="1">
                <a:solidFill>
                  <a:srgbClr val="A72126"/>
                </a:solidFill>
                <a:latin typeface="+mj-ea"/>
                <a:ea typeface="+mj-ea"/>
              </a:rPr>
              <a:t>Deepinsight</a:t>
            </a:r>
            <a:r>
              <a:rPr lang="zh-CN" altLang="en-US" sz="2000" b="1" dirty="0">
                <a:solidFill>
                  <a:srgbClr val="A72126"/>
                </a:solidFill>
                <a:latin typeface="+mj-ea"/>
                <a:ea typeface="+mj-ea"/>
              </a:rPr>
              <a:t>顶会助手</a:t>
            </a:r>
            <a:endParaRPr lang="en-US" altLang="zh-CN" sz="2000" b="1" dirty="0">
              <a:solidFill>
                <a:srgbClr val="A72126"/>
              </a:solidFill>
              <a:latin typeface="+mj-ea"/>
              <a:ea typeface="+mj-ea"/>
            </a:endParaRPr>
          </a:p>
          <a:p>
            <a:pPr fontAlgn="auto">
              <a:lnSpc>
                <a:spcPct val="150000"/>
              </a:lnSpc>
            </a:pPr>
            <a:r>
              <a:rPr lang="zh-CN" altLang="en-US" sz="2000" b="1" dirty="0">
                <a:latin typeface="+mj-ea"/>
                <a:ea typeface="+mj-ea"/>
              </a:rPr>
              <a:t>日期：</a:t>
            </a:r>
            <a:endParaRPr lang="en-US" sz="2000" b="1" dirty="0">
              <a:latin typeface="+mj-ea"/>
              <a:ea typeface="+mj-ea"/>
            </a:endParaRPr>
          </a:p>
        </p:txBody>
      </p:sp>
      <p:sp>
        <p:nvSpPr>
          <p:cNvPr id="2" name="标题 2"/>
          <p:cNvSpPr txBox="1"/>
          <p:nvPr/>
        </p:nvSpPr>
        <p:spPr>
          <a:xfrm>
            <a:off x="887012" y="1597347"/>
            <a:ext cx="6559809" cy="690255"/>
          </a:xfrm>
          <a:prstGeom prst="rect">
            <a:avLst/>
          </a:prstGeom>
          <a:ln>
            <a:noFill/>
            <a:prstDash val="dash"/>
          </a:ln>
        </p:spPr>
        <p:txBody>
          <a:bodyPr lIns="0" tIns="0" rIns="0" bIns="0" anchor="t">
            <a:normAutofit/>
          </a:bodyPr>
          <a:lstStyle>
            <a:lvl1pPr algn="l" defTabSz="914400" rtl="0" eaLnBrk="1" latinLnBrk="0" hangingPunct="1">
              <a:lnSpc>
                <a:spcPts val="3440"/>
              </a:lnSpc>
              <a:spcBef>
                <a:spcPct val="0"/>
              </a:spcBef>
              <a:buNone/>
              <a:defRPr sz="3200" b="0" i="0" kern="120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zh-CN" altLang="en-US" b="1" dirty="0">
                <a:solidFill>
                  <a:srgbClr val="A72126"/>
                </a:solidFill>
              </a:rPr>
              <a:t>洞察报告</a:t>
            </a:r>
          </a:p>
        </p:txBody>
      </p:sp>
      <p:sp>
        <p:nvSpPr>
          <p:cNvPr id="5" name="Text Placeholder 7"/>
          <p:cNvSpPr txBox="1"/>
          <p:nvPr/>
        </p:nvSpPr>
        <p:spPr>
          <a:xfrm>
            <a:off x="1667173" y="5048862"/>
            <a:ext cx="2523077" cy="3219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defRPr sz="1400" kern="120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7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7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7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75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1" dirty="0">
                <a:latin typeface="+mj-ea"/>
                <a:ea typeface="+mj-ea"/>
              </a:rPr>
              <a:t>date</a:t>
            </a:r>
            <a:endParaRPr lang="en-US" sz="2000" b="1" dirty="0">
              <a:latin typeface="+mj-ea"/>
              <a:ea typeface="+mj-ea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1033620" y="1843088"/>
            <a:ext cx="10045712" cy="3013725"/>
          </a:xfrm>
        </p:spPr>
        <p:txBody>
          <a:bodyPr/>
          <a:lstStyle/>
          <a:p>
            <a:r>
              <a:rPr lang="en-US" b="1" dirty="0" err="1">
                <a:solidFill>
                  <a:schemeClr val="tx1"/>
                </a:solidFill>
              </a:rPr>
              <a:t>会议概览</a:t>
            </a:r>
            <a:endParaRPr lang="en-US" b="1" dirty="0">
              <a:solidFill>
                <a:schemeClr val="tx1"/>
              </a:solidFill>
            </a:endParaRPr>
          </a:p>
          <a:p>
            <a:r>
              <a:rPr lang="en-US" b="1" dirty="0" err="1"/>
              <a:t>Keynote分析</a:t>
            </a:r>
            <a:endParaRPr lang="en-US" b="1" dirty="0"/>
          </a:p>
          <a:p>
            <a:r>
              <a:rPr lang="en-US" b="1" dirty="0" err="1">
                <a:solidFill>
                  <a:schemeClr val="tx1"/>
                </a:solidFill>
              </a:rPr>
              <a:t>会议主题分析</a:t>
            </a:r>
            <a:endParaRPr lang="en-US" b="1" dirty="0">
              <a:solidFill>
                <a:schemeClr val="tx1"/>
              </a:solidFill>
            </a:endParaRPr>
          </a:p>
          <a:p>
            <a:r>
              <a:rPr lang="en-US" b="1" dirty="0" err="1"/>
              <a:t>优秀论文分析</a:t>
            </a:r>
            <a:endParaRPr lang="en-US" b="1" dirty="0"/>
          </a:p>
          <a:p>
            <a:r>
              <a:rPr lang="en-US" b="1" dirty="0" err="1">
                <a:solidFill>
                  <a:schemeClr val="tx1"/>
                </a:solidFill>
              </a:rPr>
              <a:t>总结</a:t>
            </a:r>
            <a:endParaRPr lang="en-US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r>
              <a:rPr lang="en-US" sz="2400" b="1" dirty="0" err="1">
                <a:solidFill>
                  <a:srgbClr val="A72126"/>
                </a:solidFill>
              </a:rPr>
              <a:t>会议概览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0"/>
          </p:nvPr>
        </p:nvSpPr>
        <p:spPr>
          <a:xfrm>
            <a:off x="420130" y="781220"/>
            <a:ext cx="11467069" cy="2327127"/>
          </a:xfrm>
          <a:ln w="12700">
            <a:solidFill>
              <a:schemeClr val="tx2">
                <a:lumMod val="75000"/>
              </a:schemeClr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pPr algn="ctr">
              <a:lnSpc>
                <a:spcPct val="120000"/>
              </a:lnSpc>
            </a:pPr>
            <a:r>
              <a:rPr lang="zh-CN" altLang="en-US" sz="1400" b="1" dirty="0" err="1">
                <a:solidFill>
                  <a:schemeClr val="tx1"/>
                </a:solidFill>
              </a:rPr>
              <a:t>基本信息</a:t>
            </a:r>
          </a:p>
        </p:txBody>
      </p:sp>
      <p:sp>
        <p:nvSpPr>
          <p:cNvPr id="6" name="矩形 5"/>
          <p:cNvSpPr/>
          <p:nvPr/>
        </p:nvSpPr>
        <p:spPr>
          <a:xfrm>
            <a:off x="507617" y="1182206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会议时间</a:t>
            </a:r>
            <a:r>
              <a:rPr kumimoji="1"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sp>
        <p:nvSpPr>
          <p:cNvPr id="9" name="矩形 8"/>
          <p:cNvSpPr/>
          <p:nvPr/>
        </p:nvSpPr>
        <p:spPr>
          <a:xfrm>
            <a:off x="1635510" y="1182206"/>
            <a:ext cx="3861777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conf_date</a:t>
            </a:r>
          </a:p>
        </p:txBody>
      </p:sp>
      <p:sp>
        <p:nvSpPr>
          <p:cNvPr id="12" name="矩形 11"/>
          <p:cNvSpPr/>
          <p:nvPr/>
        </p:nvSpPr>
        <p:spPr>
          <a:xfrm>
            <a:off x="507617" y="1544100"/>
            <a:ext cx="1127895" cy="218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会议地点</a:t>
            </a:r>
            <a:r>
              <a:rPr kumimoji="1"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sp>
        <p:nvSpPr>
          <p:cNvPr id="13" name="矩形 12"/>
          <p:cNvSpPr/>
          <p:nvPr/>
        </p:nvSpPr>
        <p:spPr>
          <a:xfrm>
            <a:off x="1635509" y="1544100"/>
            <a:ext cx="3861777" cy="218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conf_loc</a:t>
            </a:r>
          </a:p>
        </p:txBody>
      </p:sp>
      <p:sp>
        <p:nvSpPr>
          <p:cNvPr id="17" name="矩形 16"/>
          <p:cNvSpPr/>
          <p:nvPr/>
        </p:nvSpPr>
        <p:spPr>
          <a:xfrm>
            <a:off x="507617" y="1905415"/>
            <a:ext cx="1127895" cy="218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会议级别</a:t>
            </a:r>
            <a:r>
              <a:rPr kumimoji="1"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sp>
        <p:nvSpPr>
          <p:cNvPr id="18" name="矩形 17"/>
          <p:cNvSpPr/>
          <p:nvPr/>
        </p:nvSpPr>
        <p:spPr>
          <a:xfrm>
            <a:off x="1635509" y="1905415"/>
            <a:ext cx="3861777" cy="218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organizer_level</a:t>
            </a:r>
          </a:p>
        </p:txBody>
      </p:sp>
      <p:sp>
        <p:nvSpPr>
          <p:cNvPr id="19" name="矩形 18"/>
          <p:cNvSpPr/>
          <p:nvPr/>
        </p:nvSpPr>
        <p:spPr>
          <a:xfrm>
            <a:off x="507617" y="2266730"/>
            <a:ext cx="1127895" cy="218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</a:t>
            </a:r>
            <a:r>
              <a:rPr kumimoji="1"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sp>
        <p:nvSpPr>
          <p:cNvPr id="20" name="矩形 19"/>
          <p:cNvSpPr/>
          <p:nvPr/>
        </p:nvSpPr>
        <p:spPr>
          <a:xfrm>
            <a:off x="1635509" y="2266730"/>
            <a:ext cx="3861777" cy="218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conf_topics</a:t>
            </a:r>
          </a:p>
        </p:txBody>
      </p:sp>
      <p:sp>
        <p:nvSpPr>
          <p:cNvPr id="21" name="矩形 20"/>
          <p:cNvSpPr/>
          <p:nvPr/>
        </p:nvSpPr>
        <p:spPr>
          <a:xfrm>
            <a:off x="507617" y="2628045"/>
            <a:ext cx="1127895" cy="218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投稿论文</a:t>
            </a:r>
            <a:r>
              <a:rPr kumimoji="1"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sp>
        <p:nvSpPr>
          <p:cNvPr id="22" name="矩形 21"/>
          <p:cNvSpPr/>
          <p:nvPr/>
        </p:nvSpPr>
        <p:spPr>
          <a:xfrm>
            <a:off x="1635509" y="2628045"/>
            <a:ext cx="3861777" cy="218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submit_papers</a:t>
            </a:r>
          </a:p>
        </p:txBody>
      </p:sp>
      <p:sp>
        <p:nvSpPr>
          <p:cNvPr id="23" name="矩形 22"/>
          <p:cNvSpPr/>
          <p:nvPr/>
        </p:nvSpPr>
        <p:spPr>
          <a:xfrm>
            <a:off x="5845122" y="1182206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会议主席</a:t>
            </a:r>
            <a:r>
              <a:rPr kumimoji="1"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sp>
        <p:nvSpPr>
          <p:cNvPr id="24" name="矩形 23"/>
          <p:cNvSpPr/>
          <p:nvPr/>
        </p:nvSpPr>
        <p:spPr>
          <a:xfrm>
            <a:off x="6973015" y="1182206"/>
            <a:ext cx="453318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conf_chair</a:t>
            </a:r>
          </a:p>
        </p:txBody>
      </p:sp>
      <p:sp>
        <p:nvSpPr>
          <p:cNvPr id="25" name="矩形 24"/>
          <p:cNvSpPr/>
          <p:nvPr/>
        </p:nvSpPr>
        <p:spPr>
          <a:xfrm>
            <a:off x="5845122" y="1630146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会议委员</a:t>
            </a:r>
            <a:r>
              <a:rPr kumimoji="1"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sp>
        <p:nvSpPr>
          <p:cNvPr id="26" name="矩形 25"/>
          <p:cNvSpPr/>
          <p:nvPr/>
        </p:nvSpPr>
        <p:spPr>
          <a:xfrm>
            <a:off x="6973015" y="1630145"/>
            <a:ext cx="453318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conf_committee</a:t>
            </a:r>
          </a:p>
        </p:txBody>
      </p:sp>
      <p:sp>
        <p:nvSpPr>
          <p:cNvPr id="27" name="矩形 26"/>
          <p:cNvSpPr/>
          <p:nvPr/>
        </p:nvSpPr>
        <p:spPr>
          <a:xfrm>
            <a:off x="5845122" y="2116649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赞助商</a:t>
            </a:r>
            <a:r>
              <a:rPr kumimoji="1"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sp>
        <p:nvSpPr>
          <p:cNvPr id="28" name="矩形 27"/>
          <p:cNvSpPr/>
          <p:nvPr/>
        </p:nvSpPr>
        <p:spPr>
          <a:xfrm>
            <a:off x="6973015" y="2116648"/>
            <a:ext cx="453318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conf_sponsor</a:t>
            </a:r>
          </a:p>
        </p:txBody>
      </p:sp>
      <p:sp>
        <p:nvSpPr>
          <p:cNvPr id="29" name="矩形 28"/>
          <p:cNvSpPr/>
          <p:nvPr/>
        </p:nvSpPr>
        <p:spPr>
          <a:xfrm>
            <a:off x="5845122" y="2627466"/>
            <a:ext cx="112789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zh-CN" altLang="en-US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主要机构</a:t>
            </a:r>
            <a:r>
              <a:rPr kumimoji="1" lang="zh-CN" altLang="en-US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：</a:t>
            </a:r>
          </a:p>
        </p:txBody>
      </p:sp>
      <p:sp>
        <p:nvSpPr>
          <p:cNvPr id="30" name="矩形 29"/>
          <p:cNvSpPr/>
          <p:nvPr/>
        </p:nvSpPr>
        <p:spPr>
          <a:xfrm>
            <a:off x="6973015" y="2627466"/>
            <a:ext cx="4533185" cy="21901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conf_institution</a:t>
            </a:r>
          </a:p>
        </p:txBody>
      </p:sp>
      <p:sp>
        <p:nvSpPr>
          <p:cNvPr id="32" name="Content Placeholder 2"/>
          <p:cNvSpPr txBox="1"/>
          <p:nvPr/>
        </p:nvSpPr>
        <p:spPr>
          <a:xfrm>
            <a:off x="420130" y="3237829"/>
            <a:ext cx="11467068" cy="3071531"/>
          </a:xfrm>
          <a:prstGeom prst="rect">
            <a:avLst/>
          </a:prstGeom>
          <a:ln w="12700"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sz="1400" b="1" dirty="0" err="1"/>
              <a:t>扩展信息</a:t>
            </a:r>
            <a:endParaRPr lang="en-US" sz="1400" b="1" dirty="0"/>
          </a:p>
        </p:txBody>
      </p:sp>
      <p:sp>
        <p:nvSpPr>
          <p:cNvPr id="34" name="矩形 33"/>
          <p:cNvSpPr/>
          <p:nvPr/>
        </p:nvSpPr>
        <p:spPr>
          <a:xfrm>
            <a:off x="507617" y="4442791"/>
            <a:ext cx="11269016" cy="186656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total_trend</a:t>
            </a:r>
          </a:p>
        </p:txBody>
      </p:sp>
      <p:sp>
        <p:nvSpPr>
          <p:cNvPr id="33" name="矩形 32"/>
          <p:cNvSpPr/>
          <p:nvPr/>
        </p:nvSpPr>
        <p:spPr>
          <a:xfrm>
            <a:off x="507617" y="3517768"/>
            <a:ext cx="11269016" cy="83557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conf_info</a:t>
            </a:r>
          </a:p>
        </p:txBody>
      </p:sp>
      <p:sp>
        <p:nvSpPr>
          <p:cNvPr id="14" name="矩形 13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</a:p>
        </p:txBody>
      </p:sp>
      <p:sp>
        <p:nvSpPr>
          <p:cNvPr id="15" name="矩形 14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</a:p>
        </p:txBody>
      </p:sp>
      <p:sp>
        <p:nvSpPr>
          <p:cNvPr id="16" name="矩形 15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sz="2400" b="1" dirty="0" err="1">
                <a:solidFill>
                  <a:srgbClr val="A72126"/>
                </a:solidFill>
              </a:rPr>
              <a:t>技术主题分析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5992668" y="975361"/>
            <a:ext cx="5724000" cy="4892400"/>
          </a:xfrm>
          <a:prstGeom prst="rect">
            <a:avLst/>
          </a:prstGeom>
          <a:ln w="12700"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3" name="矩形 32"/>
          <p:cNvSpPr/>
          <p:nvPr/>
        </p:nvSpPr>
        <p:spPr>
          <a:xfrm>
            <a:off x="584893" y="1409516"/>
            <a:ext cx="5075498" cy="37062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tech_field_png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6098540" y="1050925"/>
            <a:ext cx="5490210" cy="472630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key_tech_intro</a:t>
            </a:r>
          </a:p>
        </p:txBody>
      </p:sp>
      <p:sp>
        <p:nvSpPr>
          <p:cNvPr id="10" name="矩形 9"/>
          <p:cNvSpPr/>
          <p:nvPr/>
        </p:nvSpPr>
        <p:spPr>
          <a:xfrm>
            <a:off x="412115" y="6036945"/>
            <a:ext cx="11318875" cy="631190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key_tech_summary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420130" y="5639859"/>
            <a:ext cx="5407875" cy="3130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说明：主题内容来源于会议官网，从论文录用、会议议程、征稿信息三者中按顺序选取之一</a:t>
            </a:r>
          </a:p>
        </p:txBody>
      </p:sp>
      <p:sp>
        <p:nvSpPr>
          <p:cNvPr id="14" name="矩形 13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</a:p>
        </p:txBody>
      </p:sp>
      <p:sp>
        <p:nvSpPr>
          <p:cNvPr id="15" name="矩形 14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</a:p>
        </p:txBody>
      </p:sp>
      <p:sp>
        <p:nvSpPr>
          <p:cNvPr id="16" name="矩形 15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r>
              <a:rPr lang="en-US" sz="2400" b="1" dirty="0">
                <a:solidFill>
                  <a:srgbClr val="A72126"/>
                </a:solidFill>
              </a:rPr>
              <a:t>研究热点分析-</a:t>
            </a:r>
            <a:r>
              <a:rPr lang="zh-CN" altLang="en-US" sz="2400" b="1" dirty="0">
                <a:solidFill>
                  <a:srgbClr val="A72126"/>
                </a:solidFill>
              </a:rPr>
              <a:t>关键词分布与组合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5992668" y="975362"/>
            <a:ext cx="5880835" cy="4663069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4" name="矩形 33"/>
          <p:cNvSpPr/>
          <p:nvPr/>
        </p:nvSpPr>
        <p:spPr>
          <a:xfrm>
            <a:off x="6098381" y="1051034"/>
            <a:ext cx="5691947" cy="38851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keyword_intro</a:t>
            </a:r>
          </a:p>
        </p:txBody>
      </p:sp>
      <p:sp>
        <p:nvSpPr>
          <p:cNvPr id="10" name="矩形 9"/>
          <p:cNvSpPr/>
          <p:nvPr/>
        </p:nvSpPr>
        <p:spPr>
          <a:xfrm>
            <a:off x="389890" y="6031865"/>
            <a:ext cx="11520170" cy="589915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5992442" y="5678436"/>
            <a:ext cx="5407875" cy="3130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说明：关键词来自会议论文 </a:t>
            </a:r>
            <a:r>
              <a:rPr kumimoji="1" lang="en-GB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</a:t>
            </a:r>
            <a:r>
              <a:rPr kumimoji="1" lang="zh-CN" altLang="en-GB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，</a:t>
            </a:r>
            <a:r>
              <a:rPr kumimoji="1"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或基于论文摘要解析（当缺少 </a:t>
            </a:r>
            <a:r>
              <a:rPr kumimoji="1" lang="en-GB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 </a:t>
            </a:r>
            <a:r>
              <a:rPr kumimoji="1"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时）</a:t>
            </a:r>
          </a:p>
        </p:txBody>
      </p:sp>
      <p:sp>
        <p:nvSpPr>
          <p:cNvPr id="11" name="矩形 10"/>
          <p:cNvSpPr/>
          <p:nvPr/>
        </p:nvSpPr>
        <p:spPr>
          <a:xfrm>
            <a:off x="515895" y="969399"/>
            <a:ext cx="1630344" cy="2747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关键词分布：</a:t>
            </a:r>
          </a:p>
        </p:txBody>
      </p:sp>
      <p:sp>
        <p:nvSpPr>
          <p:cNvPr id="13" name="矩形 12"/>
          <p:cNvSpPr/>
          <p:nvPr/>
        </p:nvSpPr>
        <p:spPr>
          <a:xfrm>
            <a:off x="515620" y="1243965"/>
            <a:ext cx="3493135" cy="1889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keyword_cloud_png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520156" y="3172267"/>
            <a:ext cx="2492036" cy="2747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关键词组合分析：</a:t>
            </a:r>
          </a:p>
        </p:txBody>
      </p:sp>
      <p:sp>
        <p:nvSpPr>
          <p:cNvPr id="15" name="矩形 14"/>
          <p:cNvSpPr/>
          <p:nvPr/>
        </p:nvSpPr>
        <p:spPr>
          <a:xfrm>
            <a:off x="515895" y="3430580"/>
            <a:ext cx="4960566" cy="24251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keyword_couple_analysis_png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</a:p>
        </p:txBody>
      </p:sp>
      <p:sp>
        <p:nvSpPr>
          <p:cNvPr id="17" name="矩形 16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</a:p>
        </p:txBody>
      </p:sp>
      <p:sp>
        <p:nvSpPr>
          <p:cNvPr id="18" name="矩形 17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r>
              <a:rPr lang="en-US" altLang="zh-CN" sz="2400" b="1" dirty="0">
                <a:solidFill>
                  <a:srgbClr val="A72126"/>
                </a:solidFill>
              </a:rPr>
              <a:t>研究热点分析-</a:t>
            </a:r>
            <a:r>
              <a:rPr lang="zh-CN" altLang="en-US" sz="2400" b="1" dirty="0">
                <a:solidFill>
                  <a:srgbClr val="A72126"/>
                </a:solidFill>
              </a:rPr>
              <a:t>关键词分类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7683863" y="975361"/>
            <a:ext cx="4147200" cy="4831605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3" name="矩形 32"/>
          <p:cNvSpPr/>
          <p:nvPr/>
        </p:nvSpPr>
        <p:spPr>
          <a:xfrm>
            <a:off x="420370" y="975360"/>
            <a:ext cx="7020000" cy="48336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keyword_topic_csv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7780655" y="1050925"/>
            <a:ext cx="3960000" cy="4686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keyword_topic_intro</a:t>
            </a:r>
          </a:p>
        </p:txBody>
      </p:sp>
      <p:sp>
        <p:nvSpPr>
          <p:cNvPr id="10" name="矩形 9"/>
          <p:cNvSpPr/>
          <p:nvPr/>
        </p:nvSpPr>
        <p:spPr>
          <a:xfrm>
            <a:off x="420370" y="6071235"/>
            <a:ext cx="11466830" cy="589915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keyword_topic_summary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</a:p>
        </p:txBody>
      </p:sp>
      <p:sp>
        <p:nvSpPr>
          <p:cNvPr id="15" name="矩形 14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</a:p>
        </p:txBody>
      </p:sp>
      <p:sp>
        <p:nvSpPr>
          <p:cNvPr id="16" name="矩形 15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altLang="zh-CN" sz="2400" b="1" dirty="0">
                <a:solidFill>
                  <a:srgbClr val="A72126"/>
                </a:solidFill>
              </a:rPr>
              <a:t>国家/地区技术特征分析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7008033" y="982982"/>
            <a:ext cx="4788000" cy="4617481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4" name="矩形 33"/>
          <p:cNvSpPr/>
          <p:nvPr/>
        </p:nvSpPr>
        <p:spPr>
          <a:xfrm>
            <a:off x="7113905" y="1058545"/>
            <a:ext cx="4634865" cy="4432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country_tech_intro</a:t>
            </a:r>
          </a:p>
        </p:txBody>
      </p:sp>
      <p:sp>
        <p:nvSpPr>
          <p:cNvPr id="10" name="矩形 9"/>
          <p:cNvSpPr/>
          <p:nvPr/>
        </p:nvSpPr>
        <p:spPr>
          <a:xfrm>
            <a:off x="421005" y="6012815"/>
            <a:ext cx="11482705" cy="589915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country_tech_summary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6788688" y="5650447"/>
            <a:ext cx="5407875" cy="3130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说明：技术优势占比指国家在该主题论文占该主题所有论文的比例，超过</a:t>
            </a:r>
            <a:r>
              <a:rPr lang="en-US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10%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视为优势技术。</a:t>
            </a:r>
            <a:endParaRPr kumimoji="1" lang="zh-CN" altLang="en-US" sz="1000" b="1" dirty="0">
              <a:solidFill>
                <a:schemeClr val="tx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515895" y="969399"/>
            <a:ext cx="2936222" cy="2747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600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TopN</a:t>
            </a:r>
            <a:r>
              <a:rPr kumimoji="1"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国家</a:t>
            </a:r>
            <a:r>
              <a:rPr kumimoji="1" lang="en-US" altLang="zh-CN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地区排名：</a:t>
            </a:r>
          </a:p>
        </p:txBody>
      </p:sp>
      <p:sp>
        <p:nvSpPr>
          <p:cNvPr id="13" name="矩形 12"/>
          <p:cNvSpPr/>
          <p:nvPr/>
        </p:nvSpPr>
        <p:spPr>
          <a:xfrm>
            <a:off x="515620" y="1243965"/>
            <a:ext cx="2843530" cy="17297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country_tech_top_png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519520" y="2981132"/>
            <a:ext cx="2849629" cy="2747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国家</a:t>
            </a:r>
            <a:r>
              <a:rPr kumimoji="1" lang="en-US" altLang="zh-CN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kumimoji="1"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地区技术优势矩阵：</a:t>
            </a:r>
          </a:p>
        </p:txBody>
      </p:sp>
      <p:sp>
        <p:nvSpPr>
          <p:cNvPr id="15" name="矩形 14"/>
          <p:cNvSpPr/>
          <p:nvPr/>
        </p:nvSpPr>
        <p:spPr>
          <a:xfrm>
            <a:off x="519430" y="3256280"/>
            <a:ext cx="6120000" cy="25990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country_tech_strength_csv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</a:p>
        </p:txBody>
      </p:sp>
      <p:sp>
        <p:nvSpPr>
          <p:cNvPr id="17" name="矩形 16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</a:p>
        </p:txBody>
      </p:sp>
      <p:sp>
        <p:nvSpPr>
          <p:cNvPr id="18" name="矩形 17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altLang="zh-CN" sz="2400" b="1" dirty="0">
                <a:solidFill>
                  <a:srgbClr val="A72126"/>
                </a:solidFill>
              </a:rPr>
              <a:t>机构技术特征分析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5992669" y="975361"/>
            <a:ext cx="5797660" cy="4831605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4" name="矩形 33"/>
          <p:cNvSpPr/>
          <p:nvPr/>
        </p:nvSpPr>
        <p:spPr>
          <a:xfrm>
            <a:off x="6098540" y="1050925"/>
            <a:ext cx="5616000" cy="46177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institution_tech_feat_intro</a:t>
            </a:r>
          </a:p>
        </p:txBody>
      </p:sp>
      <p:sp>
        <p:nvSpPr>
          <p:cNvPr id="10" name="矩形 9"/>
          <p:cNvSpPr/>
          <p:nvPr/>
        </p:nvSpPr>
        <p:spPr>
          <a:xfrm>
            <a:off x="420370" y="6034405"/>
            <a:ext cx="11369675" cy="589915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institution_tech_feat_summary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515895" y="969399"/>
            <a:ext cx="2936222" cy="2747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zh-CN" sz="1600" b="1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TopN</a:t>
            </a:r>
            <a:r>
              <a:rPr kumimoji="1"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机构排名：</a:t>
            </a:r>
          </a:p>
        </p:txBody>
      </p:sp>
      <p:sp>
        <p:nvSpPr>
          <p:cNvPr id="13" name="矩形 12"/>
          <p:cNvSpPr/>
          <p:nvPr/>
        </p:nvSpPr>
        <p:spPr>
          <a:xfrm>
            <a:off x="515896" y="1244110"/>
            <a:ext cx="2849384" cy="17181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dirty="0" err="1">
                <a:solidFill>
                  <a:srgbClr val="FF0000"/>
                </a:solidFill>
              </a:rPr>
              <a:t>top_institution_png</a:t>
            </a:r>
            <a:endParaRPr lang="en-GB" altLang="zh-CN" dirty="0">
              <a:solidFill>
                <a:srgbClr val="FF0000"/>
              </a:solidFill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515650" y="3087576"/>
            <a:ext cx="2849629" cy="2747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产学研类型占比分析：</a:t>
            </a:r>
          </a:p>
        </p:txBody>
      </p:sp>
      <p:sp>
        <p:nvSpPr>
          <p:cNvPr id="15" name="矩形 14"/>
          <p:cNvSpPr/>
          <p:nvPr/>
        </p:nvSpPr>
        <p:spPr>
          <a:xfrm>
            <a:off x="515894" y="3382518"/>
            <a:ext cx="3862800" cy="24264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compony_school_analysis_png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</a:p>
        </p:txBody>
      </p:sp>
      <p:sp>
        <p:nvSpPr>
          <p:cNvPr id="16" name="矩形 15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</a:p>
        </p:txBody>
      </p:sp>
      <p:sp>
        <p:nvSpPr>
          <p:cNvPr id="17" name="矩形 16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altLang="zh-CN" sz="2400" b="1" dirty="0">
                <a:solidFill>
                  <a:srgbClr val="A72126"/>
                </a:solidFill>
              </a:rPr>
              <a:t>机构技术优势分析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5992669" y="975362"/>
            <a:ext cx="5797660" cy="4520040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4" name="矩形 33"/>
          <p:cNvSpPr/>
          <p:nvPr/>
        </p:nvSpPr>
        <p:spPr>
          <a:xfrm>
            <a:off x="6098540" y="1050925"/>
            <a:ext cx="5580000" cy="39960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institution_tech_strength_intro</a:t>
            </a:r>
          </a:p>
        </p:txBody>
      </p:sp>
      <p:sp>
        <p:nvSpPr>
          <p:cNvPr id="10" name="矩形 9"/>
          <p:cNvSpPr/>
          <p:nvPr/>
        </p:nvSpPr>
        <p:spPr>
          <a:xfrm>
            <a:off x="382270" y="6030595"/>
            <a:ext cx="11421745" cy="589915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institution_tech_strength_summary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87654" y="975424"/>
            <a:ext cx="427996" cy="17181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r>
              <a:rPr kumimoji="1"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高校技术优势局者</a:t>
            </a:r>
          </a:p>
        </p:txBody>
      </p:sp>
      <p:sp>
        <p:nvSpPr>
          <p:cNvPr id="13" name="矩形 12"/>
          <p:cNvSpPr/>
          <p:nvPr/>
        </p:nvSpPr>
        <p:spPr>
          <a:xfrm>
            <a:off x="515620" y="864235"/>
            <a:ext cx="5144770" cy="23298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dirty="0" err="1">
                <a:solidFill>
                  <a:srgbClr val="FF0000"/>
                </a:solidFill>
              </a:rPr>
              <a:t>university_tech_strength_csv</a:t>
            </a:r>
            <a:endParaRPr lang="en-GB" altLang="zh-CN" dirty="0">
              <a:solidFill>
                <a:srgbClr val="FF0000"/>
              </a:solidFill>
            </a:endParaRPr>
          </a:p>
        </p:txBody>
      </p:sp>
      <p:sp>
        <p:nvSpPr>
          <p:cNvPr id="15" name="矩形 14"/>
          <p:cNvSpPr/>
          <p:nvPr/>
        </p:nvSpPr>
        <p:spPr>
          <a:xfrm>
            <a:off x="515894" y="3223491"/>
            <a:ext cx="5144497" cy="22719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compony_school_analysis_png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7654" y="3422831"/>
            <a:ext cx="427996" cy="17181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r>
              <a:rPr kumimoji="1" lang="zh-CN" altLang="en-US" sz="16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企业技术优势局者</a:t>
            </a:r>
          </a:p>
        </p:txBody>
      </p:sp>
      <p:sp>
        <p:nvSpPr>
          <p:cNvPr id="16" name="矩形 15"/>
          <p:cNvSpPr/>
          <p:nvPr/>
        </p:nvSpPr>
        <p:spPr>
          <a:xfrm>
            <a:off x="5845122" y="5650447"/>
            <a:ext cx="5407875" cy="3130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说明：技术优势占比指机构在该主题论文占该主题所有论文的比例，超过</a:t>
            </a:r>
            <a:r>
              <a:rPr lang="en-US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5%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视为优势技术。</a:t>
            </a:r>
          </a:p>
        </p:txBody>
      </p:sp>
      <p:sp>
        <p:nvSpPr>
          <p:cNvPr id="14" name="矩形 13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</a:p>
        </p:txBody>
      </p:sp>
      <p:sp>
        <p:nvSpPr>
          <p:cNvPr id="17" name="矩形 16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</a:p>
        </p:txBody>
      </p:sp>
      <p:sp>
        <p:nvSpPr>
          <p:cNvPr id="18" name="矩形 17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altLang="zh-CN" sz="2400" b="1" dirty="0">
                <a:solidFill>
                  <a:srgbClr val="A72126"/>
                </a:solidFill>
              </a:rPr>
              <a:t>跨机构合作网络分析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5883910" y="975362"/>
            <a:ext cx="5882278" cy="4574512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3" name="矩形 32"/>
          <p:cNvSpPr/>
          <p:nvPr/>
        </p:nvSpPr>
        <p:spPr>
          <a:xfrm>
            <a:off x="743866" y="1289010"/>
            <a:ext cx="4576762" cy="394721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institution_cooperation_png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5991066" y="1051033"/>
            <a:ext cx="5691947" cy="442689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institution_cooperation_intro</a:t>
            </a:r>
          </a:p>
        </p:txBody>
      </p:sp>
      <p:sp>
        <p:nvSpPr>
          <p:cNvPr id="10" name="矩形 9"/>
          <p:cNvSpPr/>
          <p:nvPr/>
        </p:nvSpPr>
        <p:spPr>
          <a:xfrm>
            <a:off x="393700" y="6015355"/>
            <a:ext cx="11410315" cy="589915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institution_cooperation_summary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4" name="矩形 13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</a:p>
        </p:txBody>
      </p:sp>
      <p:sp>
        <p:nvSpPr>
          <p:cNvPr id="15" name="矩形 14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</a:p>
        </p:txBody>
      </p:sp>
      <p:sp>
        <p:nvSpPr>
          <p:cNvPr id="16" name="矩形 15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altLang="zh-CN" sz="2400" b="1" dirty="0">
                <a:solidFill>
                  <a:srgbClr val="A72126"/>
                </a:solidFill>
              </a:rPr>
              <a:t>高潜技术转化分析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Content Placeholder 2"/>
          <p:cNvSpPr txBox="1"/>
          <p:nvPr/>
        </p:nvSpPr>
        <p:spPr>
          <a:xfrm>
            <a:off x="6759184" y="975362"/>
            <a:ext cx="4980333" cy="4550194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400" b="1" dirty="0"/>
          </a:p>
        </p:txBody>
      </p:sp>
      <p:sp>
        <p:nvSpPr>
          <p:cNvPr id="33" name="矩形 32"/>
          <p:cNvSpPr/>
          <p:nvPr/>
        </p:nvSpPr>
        <p:spPr>
          <a:xfrm>
            <a:off x="522605" y="975360"/>
            <a:ext cx="6015990" cy="490791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4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high_potential_csv</a:t>
            </a:r>
            <a:endParaRPr lang="en-GB" altLang="zh-CN" sz="14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6889667" y="1051034"/>
            <a:ext cx="4766676" cy="390280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high_potential_intro</a:t>
            </a:r>
          </a:p>
        </p:txBody>
      </p:sp>
      <p:sp>
        <p:nvSpPr>
          <p:cNvPr id="10" name="矩形 9"/>
          <p:cNvSpPr/>
          <p:nvPr/>
        </p:nvSpPr>
        <p:spPr>
          <a:xfrm>
            <a:off x="421640" y="6060440"/>
            <a:ext cx="11368405" cy="589915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high_potential_summary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6738077" y="5590010"/>
            <a:ext cx="5001440" cy="43060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说明：论文根据获奖</a:t>
            </a:r>
            <a:r>
              <a:rPr lang="en-US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(+0.3)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、企业参与</a:t>
            </a:r>
            <a:r>
              <a:rPr lang="en-US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(+0.3)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、落地</a:t>
            </a:r>
            <a:r>
              <a:rPr lang="en-US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开源</a:t>
            </a:r>
            <a:r>
              <a:rPr lang="en-US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(+0.2)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、社区热议高</a:t>
            </a:r>
            <a:r>
              <a:rPr lang="en-US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中</a:t>
            </a:r>
            <a:r>
              <a:rPr lang="en-US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低</a:t>
            </a:r>
            <a:r>
              <a:rPr lang="en-US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(+0.2/0.1/0)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与</a:t>
            </a:r>
            <a:r>
              <a:rPr lang="en-GB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Session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重点</a:t>
            </a:r>
            <a:r>
              <a:rPr lang="en-US" altLang="zh-CN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(+0.1)</a:t>
            </a:r>
            <a:r>
              <a:rPr lang="zh-CN" altLang="en-US" sz="10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进行加权评分以确定高潜论文。</a:t>
            </a:r>
          </a:p>
        </p:txBody>
      </p:sp>
      <p:sp>
        <p:nvSpPr>
          <p:cNvPr id="14" name="矩形 13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会议概览</a:t>
            </a:r>
          </a:p>
        </p:txBody>
      </p:sp>
      <p:sp>
        <p:nvSpPr>
          <p:cNvPr id="15" name="矩形 14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</a:t>
            </a: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分析</a:t>
            </a:r>
          </a:p>
        </p:txBody>
      </p:sp>
      <p:sp>
        <p:nvSpPr>
          <p:cNvPr id="16" name="矩形 15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altLang="zh-CN" sz="2400" b="1" dirty="0">
                <a:solidFill>
                  <a:srgbClr val="A72126"/>
                </a:solidFill>
              </a:rPr>
              <a:t>keynote_title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1400810" y="876300"/>
            <a:ext cx="8807450" cy="25908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speaker</a:t>
            </a:r>
          </a:p>
        </p:txBody>
      </p:sp>
      <p:sp>
        <p:nvSpPr>
          <p:cNvPr id="3" name="矩形 2"/>
          <p:cNvSpPr/>
          <p:nvPr/>
        </p:nvSpPr>
        <p:spPr>
          <a:xfrm>
            <a:off x="420131" y="876300"/>
            <a:ext cx="1047520" cy="2592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演讲嘉宾：</a:t>
            </a:r>
          </a:p>
        </p:txBody>
      </p:sp>
      <p:sp>
        <p:nvSpPr>
          <p:cNvPr id="4" name="矩形 3"/>
          <p:cNvSpPr/>
          <p:nvPr/>
        </p:nvSpPr>
        <p:spPr>
          <a:xfrm>
            <a:off x="420130" y="1368387"/>
            <a:ext cx="2923961" cy="2592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主要内容和思想：</a:t>
            </a:r>
          </a:p>
        </p:txBody>
      </p:sp>
      <p:sp>
        <p:nvSpPr>
          <p:cNvPr id="5" name="矩形 4"/>
          <p:cNvSpPr/>
          <p:nvPr/>
        </p:nvSpPr>
        <p:spPr>
          <a:xfrm>
            <a:off x="420370" y="1659890"/>
            <a:ext cx="9787890" cy="5613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keynote_abstract</a:t>
            </a:r>
          </a:p>
        </p:txBody>
      </p:sp>
      <p:sp>
        <p:nvSpPr>
          <p:cNvPr id="6" name="矩形 5"/>
          <p:cNvSpPr/>
          <p:nvPr/>
        </p:nvSpPr>
        <p:spPr>
          <a:xfrm>
            <a:off x="420370" y="2276475"/>
            <a:ext cx="11452225" cy="782320"/>
          </a:xfrm>
          <a:prstGeom prst="rect">
            <a:avLst/>
          </a:prstGeom>
          <a:noFill/>
          <a:ln>
            <a:solidFill>
              <a:srgbClr val="2B63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7" name="矩形 6"/>
          <p:cNvSpPr/>
          <p:nvPr/>
        </p:nvSpPr>
        <p:spPr>
          <a:xfrm>
            <a:off x="5993765" y="2147570"/>
            <a:ext cx="774065" cy="24892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kumimoji="1" lang="en-US" altLang="zh-CN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Why</a:t>
            </a:r>
          </a:p>
        </p:txBody>
      </p:sp>
      <p:sp>
        <p:nvSpPr>
          <p:cNvPr id="9" name="矩形 8"/>
          <p:cNvSpPr/>
          <p:nvPr/>
        </p:nvSpPr>
        <p:spPr>
          <a:xfrm>
            <a:off x="497840" y="2399030"/>
            <a:ext cx="9828000" cy="602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keynote_background</a:t>
            </a:r>
          </a:p>
        </p:txBody>
      </p:sp>
      <p:sp>
        <p:nvSpPr>
          <p:cNvPr id="22" name="矩形 21"/>
          <p:cNvSpPr/>
          <p:nvPr/>
        </p:nvSpPr>
        <p:spPr>
          <a:xfrm>
            <a:off x="420128" y="3184790"/>
            <a:ext cx="11453375" cy="782216"/>
          </a:xfrm>
          <a:prstGeom prst="rect">
            <a:avLst/>
          </a:prstGeom>
          <a:noFill/>
          <a:ln>
            <a:solidFill>
              <a:srgbClr val="2B63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6024092" y="3099172"/>
            <a:ext cx="743738" cy="24866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What</a:t>
            </a:r>
          </a:p>
        </p:txBody>
      </p:sp>
      <p:sp>
        <p:nvSpPr>
          <p:cNvPr id="24" name="矩形 23"/>
          <p:cNvSpPr/>
          <p:nvPr/>
        </p:nvSpPr>
        <p:spPr>
          <a:xfrm>
            <a:off x="497840" y="3307080"/>
            <a:ext cx="11295380" cy="539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keynote_objective</a:t>
            </a:r>
          </a:p>
        </p:txBody>
      </p:sp>
      <p:sp>
        <p:nvSpPr>
          <p:cNvPr id="25" name="矩形 24"/>
          <p:cNvSpPr/>
          <p:nvPr/>
        </p:nvSpPr>
        <p:spPr>
          <a:xfrm>
            <a:off x="420129" y="4089941"/>
            <a:ext cx="11453374" cy="782216"/>
          </a:xfrm>
          <a:prstGeom prst="rect">
            <a:avLst/>
          </a:prstGeom>
          <a:noFill/>
          <a:ln>
            <a:solidFill>
              <a:srgbClr val="2B632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solidFill>
                <a:schemeClr val="tx1"/>
              </a:solidFill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024092" y="3994163"/>
            <a:ext cx="743738" cy="24866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zh-CN" sz="12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How</a:t>
            </a:r>
          </a:p>
        </p:txBody>
      </p:sp>
      <p:sp>
        <p:nvSpPr>
          <p:cNvPr id="27" name="矩形 26"/>
          <p:cNvSpPr/>
          <p:nvPr/>
        </p:nvSpPr>
        <p:spPr>
          <a:xfrm>
            <a:off x="497840" y="4212590"/>
            <a:ext cx="11294745" cy="539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keynote_method</a:t>
            </a:r>
          </a:p>
        </p:txBody>
      </p:sp>
      <p:sp>
        <p:nvSpPr>
          <p:cNvPr id="28" name="矩形 27"/>
          <p:cNvSpPr/>
          <p:nvPr/>
        </p:nvSpPr>
        <p:spPr>
          <a:xfrm>
            <a:off x="420130" y="4932994"/>
            <a:ext cx="2923961" cy="2592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zh-CN" altLang="en-US" sz="1400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业务启发：</a:t>
            </a:r>
          </a:p>
        </p:txBody>
      </p:sp>
      <p:sp>
        <p:nvSpPr>
          <p:cNvPr id="29" name="矩形 28"/>
          <p:cNvSpPr/>
          <p:nvPr/>
        </p:nvSpPr>
        <p:spPr>
          <a:xfrm>
            <a:off x="414384" y="5181663"/>
            <a:ext cx="11453374" cy="7146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keynote_inspiration</a:t>
            </a:r>
          </a:p>
        </p:txBody>
      </p:sp>
      <p:sp>
        <p:nvSpPr>
          <p:cNvPr id="30" name="矩形 29"/>
          <p:cNvSpPr/>
          <p:nvPr/>
        </p:nvSpPr>
        <p:spPr>
          <a:xfrm>
            <a:off x="10447020" y="529590"/>
            <a:ext cx="1440000" cy="1440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keynote_picture</a:t>
            </a:r>
          </a:p>
        </p:txBody>
      </p:sp>
      <p:sp>
        <p:nvSpPr>
          <p:cNvPr id="16" name="矩形 15"/>
          <p:cNvSpPr/>
          <p:nvPr/>
        </p:nvSpPr>
        <p:spPr>
          <a:xfrm>
            <a:off x="415290" y="6015990"/>
            <a:ext cx="11463020" cy="589915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keynote_summary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会议概览</a:t>
            </a:r>
          </a:p>
        </p:txBody>
      </p:sp>
      <p:sp>
        <p:nvSpPr>
          <p:cNvPr id="18" name="矩形 17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Keynote分析</a:t>
            </a:r>
          </a:p>
        </p:txBody>
      </p:sp>
      <p:sp>
        <p:nvSpPr>
          <p:cNvPr id="19" name="矩形 18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altLang="zh-CN" sz="2400" b="1" dirty="0">
                <a:solidFill>
                  <a:srgbClr val="A72126"/>
                </a:solidFill>
              </a:rPr>
              <a:t>关键会议主题目录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07616" y="914400"/>
            <a:ext cx="11379581" cy="513080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topic_content_csv</a:t>
            </a:r>
          </a:p>
        </p:txBody>
      </p:sp>
      <p:sp>
        <p:nvSpPr>
          <p:cNvPr id="17" name="矩形 16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会议概览</a:t>
            </a:r>
          </a:p>
        </p:txBody>
      </p:sp>
      <p:sp>
        <p:nvSpPr>
          <p:cNvPr id="18" name="矩形 17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Keynote分析</a:t>
            </a:r>
          </a:p>
        </p:txBody>
      </p:sp>
      <p:sp>
        <p:nvSpPr>
          <p:cNvPr id="19" name="矩形 18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altLang="zh-CN" sz="2400" b="1" dirty="0">
                <a:solidFill>
                  <a:srgbClr val="A72126"/>
                </a:solidFill>
              </a:rPr>
              <a:t>topic_title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Content Placeholder 2"/>
          <p:cNvSpPr txBox="1"/>
          <p:nvPr/>
        </p:nvSpPr>
        <p:spPr>
          <a:xfrm>
            <a:off x="409070" y="934424"/>
            <a:ext cx="4682694" cy="1972405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07950" defTabSz="1188085" fontAlgn="auto">
              <a:lnSpc>
                <a:spcPct val="120000"/>
              </a:lnSpc>
              <a:tabLst>
                <a:tab pos="1208405" algn="ctr"/>
                <a:tab pos="1208405" algn="ctr"/>
              </a:tabLst>
            </a:pPr>
            <a:r>
              <a:rPr lang="en-US" sz="1400" b="1" dirty="0" err="1"/>
              <a:t>总览</a:t>
            </a:r>
            <a:r>
              <a:rPr lang="zh-CN" altLang="en-US" sz="1400" b="1" dirty="0"/>
              <a:t>：</a:t>
            </a:r>
            <a:endParaRPr lang="en-US" sz="1400" b="1" dirty="0"/>
          </a:p>
        </p:txBody>
      </p:sp>
      <p:sp>
        <p:nvSpPr>
          <p:cNvPr id="11" name="矩形 10"/>
          <p:cNvSpPr/>
          <p:nvPr/>
        </p:nvSpPr>
        <p:spPr>
          <a:xfrm>
            <a:off x="471805" y="1214755"/>
            <a:ext cx="4530725" cy="1617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topic_overview</a:t>
            </a:r>
          </a:p>
        </p:txBody>
      </p:sp>
      <p:sp>
        <p:nvSpPr>
          <p:cNvPr id="14" name="Content Placeholder 2"/>
          <p:cNvSpPr txBox="1"/>
          <p:nvPr/>
        </p:nvSpPr>
        <p:spPr>
          <a:xfrm>
            <a:off x="420130" y="3017407"/>
            <a:ext cx="4682694" cy="2447222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07950" defTabSz="1188085" fontAlgn="auto">
              <a:lnSpc>
                <a:spcPct val="120000"/>
              </a:lnSpc>
              <a:tabLst>
                <a:tab pos="1208405" algn="ctr"/>
                <a:tab pos="1208405" algn="ctr"/>
              </a:tabLst>
            </a:pPr>
            <a:r>
              <a:rPr lang="en-US" sz="1400" b="1" dirty="0" err="1"/>
              <a:t>为何重要</a:t>
            </a:r>
            <a:r>
              <a:rPr lang="zh-CN" altLang="en-US" sz="1400" b="1" dirty="0"/>
              <a:t>：</a:t>
            </a:r>
            <a:endParaRPr lang="en-US" sz="1400" b="1" dirty="0"/>
          </a:p>
        </p:txBody>
      </p:sp>
      <p:sp>
        <p:nvSpPr>
          <p:cNvPr id="15" name="矩形 14"/>
          <p:cNvSpPr/>
          <p:nvPr/>
        </p:nvSpPr>
        <p:spPr>
          <a:xfrm>
            <a:off x="471805" y="3328035"/>
            <a:ext cx="4569460" cy="20643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topic_reason</a:t>
            </a:r>
          </a:p>
        </p:txBody>
      </p:sp>
      <p:sp>
        <p:nvSpPr>
          <p:cNvPr id="16" name="Content Placeholder 2"/>
          <p:cNvSpPr txBox="1"/>
          <p:nvPr/>
        </p:nvSpPr>
        <p:spPr>
          <a:xfrm>
            <a:off x="5342476" y="934423"/>
            <a:ext cx="6544722" cy="2655444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07950" defTabSz="1188085" fontAlgn="auto">
              <a:lnSpc>
                <a:spcPct val="130000"/>
              </a:lnSpc>
              <a:tabLst>
                <a:tab pos="1208405" algn="ctr"/>
                <a:tab pos="1208405" algn="ctr"/>
              </a:tabLst>
            </a:pPr>
            <a:r>
              <a:rPr lang="zh-CN" altLang="en-US" sz="1400" b="1" dirty="0"/>
              <a:t>主要技术路径和创新点：</a:t>
            </a:r>
            <a:endParaRPr lang="en-US" sz="1400" b="1" dirty="0"/>
          </a:p>
        </p:txBody>
      </p:sp>
      <p:sp>
        <p:nvSpPr>
          <p:cNvPr id="35" name="矩形 34"/>
          <p:cNvSpPr/>
          <p:nvPr/>
        </p:nvSpPr>
        <p:spPr>
          <a:xfrm>
            <a:off x="5424170" y="1271905"/>
            <a:ext cx="6363970" cy="22434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topic_method_innovation</a:t>
            </a:r>
          </a:p>
        </p:txBody>
      </p:sp>
      <p:sp>
        <p:nvSpPr>
          <p:cNvPr id="36" name="Content Placeholder 2"/>
          <p:cNvSpPr txBox="1"/>
          <p:nvPr/>
        </p:nvSpPr>
        <p:spPr>
          <a:xfrm>
            <a:off x="5331416" y="3700444"/>
            <a:ext cx="6555782" cy="1764185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07950" defTabSz="1188085" fontAlgn="auto">
              <a:lnSpc>
                <a:spcPct val="120000"/>
              </a:lnSpc>
              <a:tabLst>
                <a:tab pos="1208405" algn="ctr"/>
                <a:tab pos="1208405" algn="ctr"/>
              </a:tabLst>
            </a:pPr>
            <a:r>
              <a:rPr lang="zh-CN" altLang="en-US" sz="1400" b="1" dirty="0"/>
              <a:t>可借鉴技术和思想：</a:t>
            </a:r>
            <a:endParaRPr lang="en-US" sz="1400" b="1" dirty="0"/>
          </a:p>
        </p:txBody>
      </p:sp>
      <p:sp>
        <p:nvSpPr>
          <p:cNvPr id="37" name="矩形 36"/>
          <p:cNvSpPr/>
          <p:nvPr/>
        </p:nvSpPr>
        <p:spPr>
          <a:xfrm>
            <a:off x="5423924" y="3975144"/>
            <a:ext cx="6363768" cy="14169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topic_inspiration</a:t>
            </a:r>
          </a:p>
        </p:txBody>
      </p:sp>
      <p:sp>
        <p:nvSpPr>
          <p:cNvPr id="12" name="矩形 11"/>
          <p:cNvSpPr/>
          <p:nvPr/>
        </p:nvSpPr>
        <p:spPr>
          <a:xfrm>
            <a:off x="405130" y="5648960"/>
            <a:ext cx="11481435" cy="664210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topic_summary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会议概览</a:t>
            </a:r>
          </a:p>
        </p:txBody>
      </p:sp>
      <p:sp>
        <p:nvSpPr>
          <p:cNvPr id="21" name="矩形 20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Keynote分析</a:t>
            </a:r>
          </a:p>
        </p:txBody>
      </p:sp>
      <p:sp>
        <p:nvSpPr>
          <p:cNvPr id="22" name="矩形 21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会议主题分析</a:t>
            </a:r>
          </a:p>
        </p:txBody>
      </p:sp>
      <p:sp>
        <p:nvSpPr>
          <p:cNvPr id="23" name="矩形 22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24" name="矩形 23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altLang="zh-CN" sz="2400" b="1" dirty="0">
                <a:solidFill>
                  <a:srgbClr val="A72126"/>
                </a:solidFill>
              </a:rPr>
              <a:t>paper_headline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Content Placeholder 2"/>
          <p:cNvSpPr txBox="1"/>
          <p:nvPr/>
        </p:nvSpPr>
        <p:spPr>
          <a:xfrm>
            <a:off x="249730" y="1027249"/>
            <a:ext cx="11759390" cy="1148375"/>
          </a:xfrm>
          <a:prstGeom prst="rect">
            <a:avLst/>
          </a:prstGeom>
          <a:ln>
            <a:solidFill>
              <a:schemeClr val="tx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zh-CN" altLang="en-US" sz="1400" b="1" dirty="0"/>
              <a:t>研究背景</a:t>
            </a:r>
            <a:endParaRPr lang="en-US" sz="1400" b="1" dirty="0"/>
          </a:p>
        </p:txBody>
      </p:sp>
      <p:sp>
        <p:nvSpPr>
          <p:cNvPr id="11" name="矩形 10"/>
          <p:cNvSpPr/>
          <p:nvPr/>
        </p:nvSpPr>
        <p:spPr>
          <a:xfrm>
            <a:off x="336696" y="1305658"/>
            <a:ext cx="11610337" cy="7824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paper_background</a:t>
            </a:r>
          </a:p>
        </p:txBody>
      </p:sp>
      <p:sp>
        <p:nvSpPr>
          <p:cNvPr id="36" name="Content Placeholder 2"/>
          <p:cNvSpPr txBox="1"/>
          <p:nvPr/>
        </p:nvSpPr>
        <p:spPr>
          <a:xfrm>
            <a:off x="249731" y="2327372"/>
            <a:ext cx="5053790" cy="356753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zh-CN" altLang="en-US" sz="1400" b="1" dirty="0"/>
              <a:t>关键技术</a:t>
            </a:r>
            <a:endParaRPr lang="en-US" sz="1400" b="1" dirty="0"/>
          </a:p>
        </p:txBody>
      </p:sp>
      <p:sp>
        <p:nvSpPr>
          <p:cNvPr id="37" name="矩形 36"/>
          <p:cNvSpPr/>
          <p:nvPr/>
        </p:nvSpPr>
        <p:spPr>
          <a:xfrm>
            <a:off x="323850" y="2622550"/>
            <a:ext cx="4885055" cy="31984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paper_key_tech</a:t>
            </a:r>
          </a:p>
        </p:txBody>
      </p:sp>
      <p:sp>
        <p:nvSpPr>
          <p:cNvPr id="5" name="Content Placeholder 2"/>
          <p:cNvSpPr txBox="1"/>
          <p:nvPr/>
        </p:nvSpPr>
        <p:spPr>
          <a:xfrm>
            <a:off x="6955326" y="2327372"/>
            <a:ext cx="5053791" cy="3567531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0" tIns="0" rIns="0" bIns="0"/>
          <a:lstStyle>
            <a:lvl1pPr marL="12065" indent="0" algn="l" defTabSz="1188085" rtl="0" eaLnBrk="1" latinLnBrk="0" hangingPunct="1">
              <a:lnSpc>
                <a:spcPct val="100000"/>
              </a:lnSpc>
              <a:spcBef>
                <a:spcPts val="0"/>
              </a:spcBef>
              <a:buFontTx/>
              <a:buNone/>
              <a:tabLst>
                <a:tab pos="1208405" algn="ctr"/>
              </a:tabLst>
              <a:defRPr sz="1800" kern="1200" baseline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Arial" panose="020B0604020202020204" pitchFamily="34" charset="0"/>
              </a:defRPr>
            </a:lvl1pPr>
            <a:lvl2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25780" indent="-17145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tabLst>
                <a:tab pos="1208405" algn="ctr"/>
              </a:tabLst>
              <a:defRPr sz="13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26644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86016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454525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048250" indent="-297180" algn="l" defTabSz="1188085" rtl="0" eaLnBrk="1" latinLnBrk="0" hangingPunct="1">
              <a:lnSpc>
                <a:spcPct val="90000"/>
              </a:lnSpc>
              <a:spcBef>
                <a:spcPts val="650"/>
              </a:spcBef>
              <a:buFont typeface="Arial" panose="020B0604020202020204" pitchFamily="34" charset="0"/>
              <a:buChar char="•"/>
              <a:defRPr sz="23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lnSpc>
                <a:spcPct val="120000"/>
              </a:lnSpc>
            </a:pPr>
            <a:r>
              <a:rPr lang="en-US" sz="1400" b="1" dirty="0" err="1"/>
              <a:t>实验结果</a:t>
            </a:r>
            <a:endParaRPr lang="en-US" sz="1400" b="1" dirty="0"/>
          </a:p>
        </p:txBody>
      </p:sp>
      <p:sp>
        <p:nvSpPr>
          <p:cNvPr id="6" name="矩形 5"/>
          <p:cNvSpPr/>
          <p:nvPr/>
        </p:nvSpPr>
        <p:spPr>
          <a:xfrm>
            <a:off x="7018083" y="2624245"/>
            <a:ext cx="4979975" cy="319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paper_result</a:t>
            </a:r>
          </a:p>
        </p:txBody>
      </p:sp>
      <p:sp>
        <p:nvSpPr>
          <p:cNvPr id="9" name="矩形 8"/>
          <p:cNvSpPr/>
          <p:nvPr/>
        </p:nvSpPr>
        <p:spPr>
          <a:xfrm>
            <a:off x="5373802" y="2495164"/>
            <a:ext cx="1539761" cy="128816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exp_result_png</a:t>
            </a:r>
            <a:endParaRPr kumimoji="1" lang="zh-CN" altLang="en-US" sz="12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5373802" y="4423983"/>
            <a:ext cx="1540800" cy="119821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rgbClr val="FF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key_tech_png</a:t>
            </a:r>
            <a:endParaRPr kumimoji="1" lang="zh-CN" altLang="en-US" sz="1200" dirty="0">
              <a:solidFill>
                <a:srgbClr val="FF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1" name="矩形 20"/>
          <p:cNvSpPr/>
          <p:nvPr/>
        </p:nvSpPr>
        <p:spPr>
          <a:xfrm>
            <a:off x="249730" y="700612"/>
            <a:ext cx="11759390" cy="24453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altLang="zh-CN" sz="10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paper_title</a:t>
            </a:r>
          </a:p>
        </p:txBody>
      </p:sp>
      <p:sp>
        <p:nvSpPr>
          <p:cNvPr id="23" name="矩形 22"/>
          <p:cNvSpPr/>
          <p:nvPr/>
        </p:nvSpPr>
        <p:spPr>
          <a:xfrm>
            <a:off x="231140" y="6026785"/>
            <a:ext cx="11779885" cy="617220"/>
          </a:xfrm>
          <a:prstGeom prst="rect">
            <a:avLst/>
          </a:prstGeom>
          <a:solidFill>
            <a:srgbClr val="78000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paper_summary</a:t>
            </a:r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endParaRPr kumimoji="1" lang="en-US" altLang="zh-CN" sz="1200" dirty="0">
              <a:solidFill>
                <a:schemeClr val="tx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会议概览</a:t>
            </a:r>
          </a:p>
        </p:txBody>
      </p:sp>
      <p:sp>
        <p:nvSpPr>
          <p:cNvPr id="4" name="矩形 3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Keynote分析</a:t>
            </a:r>
          </a:p>
        </p:txBody>
      </p:sp>
      <p:sp>
        <p:nvSpPr>
          <p:cNvPr id="19" name="矩形 18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优秀论文分析</a:t>
            </a:r>
          </a:p>
        </p:txBody>
      </p:sp>
      <p:sp>
        <p:nvSpPr>
          <p:cNvPr id="16" name="矩形 15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总结</a:t>
            </a:r>
          </a:p>
        </p:txBody>
      </p:sp>
      <p:sp>
        <p:nvSpPr>
          <p:cNvPr id="20" name="矩形 19"/>
          <p:cNvSpPr/>
          <p:nvPr/>
        </p:nvSpPr>
        <p:spPr>
          <a:xfrm>
            <a:off x="249555" y="25400"/>
            <a:ext cx="3240000" cy="2160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tech_topic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idx="1"/>
          </p:nvPr>
        </p:nvSpPr>
        <p:spPr>
          <a:xfrm>
            <a:off x="420130" y="295496"/>
            <a:ext cx="11467068" cy="528350"/>
          </a:xfrm>
        </p:spPr>
        <p:txBody>
          <a:bodyPr>
            <a:normAutofit/>
          </a:bodyPr>
          <a:lstStyle/>
          <a:p>
            <a:pPr algn="l">
              <a:buClrTx/>
              <a:buSzTx/>
            </a:pPr>
            <a:r>
              <a:rPr lang="en-US" altLang="zh-CN" sz="2400" b="1" dirty="0">
                <a:solidFill>
                  <a:srgbClr val="A72126"/>
                </a:solidFill>
              </a:rPr>
              <a:t>总结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0391" y="-1188720"/>
            <a:ext cx="184731" cy="5283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3440"/>
              </a:lnSpc>
            </a:pPr>
            <a:endParaRPr lang="en-US" sz="3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3" name="矩形 32"/>
          <p:cNvSpPr/>
          <p:nvPr/>
        </p:nvSpPr>
        <p:spPr>
          <a:xfrm>
            <a:off x="507365" y="914400"/>
            <a:ext cx="11379835" cy="38290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kumimoji="1" lang="zh-CN" altLang="en-US" b="1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关键趋势</a:t>
            </a:r>
          </a:p>
        </p:txBody>
      </p:sp>
      <p:sp>
        <p:nvSpPr>
          <p:cNvPr id="4" name="矩形 3"/>
          <p:cNvSpPr/>
          <p:nvPr/>
        </p:nvSpPr>
        <p:spPr>
          <a:xfrm>
            <a:off x="705485" y="1373505"/>
            <a:ext cx="10983595" cy="33242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kumimoji="1" lang="en-US" altLang="zh-CN" sz="1200" dirty="0" err="1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key_trends</a:t>
            </a:r>
          </a:p>
        </p:txBody>
      </p:sp>
      <p:sp>
        <p:nvSpPr>
          <p:cNvPr id="17" name="矩形 16"/>
          <p:cNvSpPr/>
          <p:nvPr/>
        </p:nvSpPr>
        <p:spPr>
          <a:xfrm>
            <a:off x="6095365" y="25400"/>
            <a:ext cx="119880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会议概览</a:t>
            </a:r>
          </a:p>
        </p:txBody>
      </p:sp>
      <p:sp>
        <p:nvSpPr>
          <p:cNvPr id="18" name="矩形 17"/>
          <p:cNvSpPr/>
          <p:nvPr/>
        </p:nvSpPr>
        <p:spPr>
          <a:xfrm>
            <a:off x="729297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Keynote分析</a:t>
            </a:r>
          </a:p>
        </p:txBody>
      </p:sp>
      <p:sp>
        <p:nvSpPr>
          <p:cNvPr id="19" name="矩形 18"/>
          <p:cNvSpPr/>
          <p:nvPr/>
        </p:nvSpPr>
        <p:spPr>
          <a:xfrm>
            <a:off x="848931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会议主题分析</a:t>
            </a:r>
          </a:p>
        </p:txBody>
      </p:sp>
      <p:sp>
        <p:nvSpPr>
          <p:cNvPr id="31" name="矩形 30"/>
          <p:cNvSpPr/>
          <p:nvPr/>
        </p:nvSpPr>
        <p:spPr>
          <a:xfrm>
            <a:off x="9681845" y="25400"/>
            <a:ext cx="1197610" cy="216000"/>
          </a:xfrm>
          <a:prstGeom prst="rect">
            <a:avLst/>
          </a:prstGeom>
          <a:solidFill>
            <a:srgbClr val="B0B0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优秀论文分析</a:t>
            </a:r>
          </a:p>
        </p:txBody>
      </p:sp>
      <p:sp>
        <p:nvSpPr>
          <p:cNvPr id="35" name="矩形 34"/>
          <p:cNvSpPr/>
          <p:nvPr/>
        </p:nvSpPr>
        <p:spPr>
          <a:xfrm>
            <a:off x="10881360" y="25400"/>
            <a:ext cx="1197610" cy="216000"/>
          </a:xfrm>
          <a:prstGeom prst="rect">
            <a:avLst/>
          </a:prstGeom>
          <a:solidFill>
            <a:srgbClr val="A721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overflow" horzOverflow="overflow" vert="horz" wrap="square" numCol="1" spcCol="0" rtlCol="0" fromWordArt="0" anchor="ctr" anchorCtr="0" forceAA="0" compatLnSpc="1">
            <a:noAutofit/>
          </a:bodyPr>
          <a:lstStyle/>
          <a:p>
            <a:pPr lvl="0" algn="ctr">
              <a:buClrTx/>
              <a:buSzTx/>
              <a:buFontTx/>
            </a:pPr>
            <a:r>
              <a:rPr lang="zh-CN" altLang="en-US" sz="1200" b="1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总结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Title Slid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 Black-Arial">
      <a:majorFont>
        <a:latin typeface="Arial Black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kumimoji="1" sz="3200" dirty="0" smtClean="0">
            <a:solidFill>
              <a:srgbClr val="575756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rt page">
  <a:themeElements>
    <a:clrScheme name="updated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C8102E"/>
      </a:accent2>
      <a:accent3>
        <a:srgbClr val="EA594F"/>
      </a:accent3>
      <a:accent4>
        <a:srgbClr val="F8B53C"/>
      </a:accent4>
      <a:accent5>
        <a:srgbClr val="231815"/>
      </a:accent5>
      <a:accent6>
        <a:srgbClr val="595757"/>
      </a:accent6>
      <a:hlink>
        <a:srgbClr val="898989"/>
      </a:hlink>
      <a:folHlink>
        <a:srgbClr val="B5B5B5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C7000B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1800" dirty="0" smtClean="0">
            <a:solidFill>
              <a:schemeClr val="accent2"/>
            </a:solidFill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4_Chart page">
  <a:themeElements>
    <a:clrScheme name="Custom 29">
      <a:dk1>
        <a:srgbClr val="1D1D1A"/>
      </a:dk1>
      <a:lt1>
        <a:srgbClr val="666666"/>
      </a:lt1>
      <a:dk2>
        <a:srgbClr val="FFFFFF"/>
      </a:dk2>
      <a:lt2>
        <a:srgbClr val="EBEBEB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lnSpc>
            <a:spcPts val="3440"/>
          </a:lnSpc>
          <a:defRPr sz="3200" dirty="0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End page">
  <a:themeElements>
    <a:clrScheme name="2210">
      <a:dk1>
        <a:srgbClr val="1D1D1A"/>
      </a:dk1>
      <a:lt1>
        <a:srgbClr val="1D1D1A"/>
      </a:lt1>
      <a:dk2>
        <a:srgbClr val="FFFFFF"/>
      </a:dk2>
      <a:lt2>
        <a:srgbClr val="FFFFFF"/>
      </a:lt2>
      <a:accent1>
        <a:srgbClr val="C7000A"/>
      </a:accent1>
      <a:accent2>
        <a:srgbClr val="E9002F"/>
      </a:accent2>
      <a:accent3>
        <a:srgbClr val="F4A100"/>
      </a:accent3>
      <a:accent4>
        <a:srgbClr val="FFFF00"/>
      </a:accent4>
      <a:accent5>
        <a:srgbClr val="232323"/>
      </a:accent5>
      <a:accent6>
        <a:srgbClr val="666666"/>
      </a:accent6>
      <a:hlink>
        <a:srgbClr val="919191"/>
      </a:hlink>
      <a:folHlink>
        <a:srgbClr val="C4C4C4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EA002F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z="1800"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MWC 19-PPT模板-白底 16比9</Template>
  <TotalTime>0</TotalTime>
  <Words>722</Words>
  <Application>Microsoft Macintosh PowerPoint</Application>
  <PresentationFormat>自定义</PresentationFormat>
  <Paragraphs>195</Paragraphs>
  <Slides>17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17</vt:i4>
      </vt:variant>
    </vt:vector>
  </HeadingPairs>
  <TitlesOfParts>
    <vt:vector size="25" baseType="lpstr">
      <vt:lpstr>微软雅黑</vt:lpstr>
      <vt:lpstr>Arial</vt:lpstr>
      <vt:lpstr>Calibri</vt:lpstr>
      <vt:lpstr>Wingdings</vt:lpstr>
      <vt:lpstr>1_Title Slide</vt:lpstr>
      <vt:lpstr>Chart page</vt:lpstr>
      <vt:lpstr>4_Chart page</vt:lpstr>
      <vt:lpstr>End page</vt:lpstr>
      <vt:lpstr>conference_name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Huawei Technologies Co.,Ltd.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AutoBVT</dc:creator>
  <cp:lastModifiedBy>g pye</cp:lastModifiedBy>
  <cp:revision>247</cp:revision>
  <dcterms:created xsi:type="dcterms:W3CDTF">2025-11-24T03:47:00Z</dcterms:created>
  <dcterms:modified xsi:type="dcterms:W3CDTF">2025-12-29T01:34:47Z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2015_ms_pID_725343">
    <vt:lpwstr>(3)9K7MhttPmctKTlAepJVghc5jVCKqhwlg3WUynTcyZRlAqvXwyh4Oh5MUn/S1qsRekxYaSjf0
xAMb+XIVmiFW19LQ5rzY8SxUDMVg4vj7tzi0SPjrpQaZEh2i7Q63wUANwPymQ9KhvkOpupId
8g/WiPz/3mo9lw2+u0HERtEEQOFSNHxTfxkHcxU8CosEcorCYU1bf3Ron8rzicflycNnYO6T
HSqLQgGez4SDJnplgK</vt:lpwstr>
  </property>
  <property fmtid="{D5CDD505-2E9C-101B-9397-08002B2CF9AE}" pid="3" name="_2015_ms_pID_7253431">
    <vt:lpwstr>82SGjRTEfRs+Omq1PLLlyH6r/NUeGWJLUTXD4xX4AdBDIbA5M3xGE1
FJDhGJWv+ZwJEBjSUU7vQG7pD9Re+jwOMeH8KvtBR51uSvL8QqKWID096WZ7sSv/LL5pae3t
XPEALNuJBpV72sbxfdY4icFZGPfj4727kRAWuT9uG/4Al1hW+8FJdNQ/J9I8uxSoEyoyJ96g
hvAj6RniZYqx1mFTVrh3xskdX0KPyR3xTPNI</vt:lpwstr>
  </property>
  <property fmtid="{D5CDD505-2E9C-101B-9397-08002B2CF9AE}" pid="4" name="_2015_ms_pID_7253432">
    <vt:lpwstr>zr4dAB7xmHqg7+bcC24Pv9M=</vt:lpwstr>
  </property>
  <property fmtid="{D5CDD505-2E9C-101B-9397-08002B2CF9AE}" pid="5" name="_readonly">
    <vt:lpwstr/>
  </property>
  <property fmtid="{D5CDD505-2E9C-101B-9397-08002B2CF9AE}" pid="6" name="_change">
    <vt:lpwstr/>
  </property>
  <property fmtid="{D5CDD505-2E9C-101B-9397-08002B2CF9AE}" pid="7" name="_full-control">
    <vt:lpwstr/>
  </property>
  <property fmtid="{D5CDD505-2E9C-101B-9397-08002B2CF9AE}" pid="8" name="sflag">
    <vt:lpwstr>1575429571</vt:lpwstr>
  </property>
  <property fmtid="{D5CDD505-2E9C-101B-9397-08002B2CF9AE}" pid="9" name="ICV">
    <vt:lpwstr>D6D8F13E24E1FA6567D52369EC799552_42</vt:lpwstr>
  </property>
  <property fmtid="{D5CDD505-2E9C-101B-9397-08002B2CF9AE}" pid="10" name="KSOProductBuildVer">
    <vt:lpwstr>2052-12.1.0.24034</vt:lpwstr>
  </property>
</Properties>
</file>